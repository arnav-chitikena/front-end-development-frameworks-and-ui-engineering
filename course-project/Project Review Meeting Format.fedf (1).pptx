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66" r:id="rId14"/>
    <p:sldId id="267" r:id="rId15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234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006FC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006FC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006FC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006FC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85950" y="168973"/>
            <a:ext cx="6435090" cy="8917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006FC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6575" y="1366519"/>
            <a:ext cx="8036559" cy="4676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klh.edu.in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1470" y="0"/>
            <a:ext cx="211454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latin typeface="Times New Roman"/>
                <a:cs typeface="Times New Roman"/>
              </a:rPr>
              <a:t>A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588047" y="239013"/>
            <a:ext cx="4178300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dirty="0">
                <a:solidFill>
                  <a:srgbClr val="FF0000"/>
                </a:solidFill>
              </a:rPr>
              <a:t>Project</a:t>
            </a:r>
            <a:r>
              <a:rPr sz="3200" spc="-75" dirty="0">
                <a:solidFill>
                  <a:srgbClr val="FF0000"/>
                </a:solidFill>
              </a:rPr>
              <a:t> </a:t>
            </a:r>
            <a:r>
              <a:rPr sz="3200" dirty="0">
                <a:solidFill>
                  <a:srgbClr val="FF0000"/>
                </a:solidFill>
              </a:rPr>
              <a:t>Review</a:t>
            </a:r>
            <a:r>
              <a:rPr sz="3200" spc="-130" dirty="0">
                <a:solidFill>
                  <a:srgbClr val="FF0000"/>
                </a:solidFill>
              </a:rPr>
              <a:t> </a:t>
            </a:r>
            <a:r>
              <a:rPr sz="3200" spc="-10" dirty="0">
                <a:solidFill>
                  <a:srgbClr val="FF0000"/>
                </a:solidFill>
              </a:rPr>
              <a:t>Meeting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1676400" y="730344"/>
            <a:ext cx="6248400" cy="102143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29209" algn="ctr">
              <a:lnSpc>
                <a:spcPts val="2365"/>
              </a:lnSpc>
              <a:spcBef>
                <a:spcPts val="125"/>
              </a:spcBef>
            </a:pPr>
            <a:r>
              <a:rPr sz="2000" spc="-25" dirty="0">
                <a:latin typeface="Times New Roman"/>
                <a:cs typeface="Times New Roman"/>
              </a:rPr>
              <a:t>on</a:t>
            </a:r>
            <a:endParaRPr sz="2000" dirty="0">
              <a:latin typeface="Times New Roman"/>
              <a:cs typeface="Times New Roman"/>
            </a:endParaRPr>
          </a:p>
          <a:p>
            <a:pPr algn="ctr">
              <a:lnSpc>
                <a:spcPts val="3445"/>
              </a:lnSpc>
            </a:pPr>
            <a:r>
              <a:rPr lang="en-IN" sz="2900" dirty="0">
                <a:latin typeface="Times New Roman"/>
                <a:cs typeface="Times New Roman"/>
              </a:rPr>
              <a:t>Pharmacy Inventory Management</a:t>
            </a:r>
          </a:p>
          <a:p>
            <a:pPr marR="6350" algn="ctr">
              <a:lnSpc>
                <a:spcPct val="100000"/>
              </a:lnSpc>
              <a:spcBef>
                <a:spcPts val="860"/>
              </a:spcBef>
            </a:pPr>
            <a:r>
              <a:rPr sz="95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By</a:t>
            </a:r>
            <a:endParaRPr sz="95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96514" y="1811337"/>
            <a:ext cx="1989455" cy="38792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ts val="1350"/>
              </a:lnSpc>
              <a:spcBef>
                <a:spcPts val="125"/>
              </a:spcBef>
            </a:pPr>
            <a:r>
              <a:rPr sz="1250" dirty="0">
                <a:solidFill>
                  <a:srgbClr val="0D0D0D"/>
                </a:solidFill>
                <a:latin typeface="Times New Roman"/>
                <a:cs typeface="Times New Roman"/>
              </a:rPr>
              <a:t>Name</a:t>
            </a:r>
            <a:r>
              <a:rPr sz="1250" spc="30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D0D0D"/>
                </a:solidFill>
                <a:latin typeface="Times New Roman"/>
                <a:cs typeface="Times New Roman"/>
              </a:rPr>
              <a:t>ARNAV </a:t>
            </a:r>
            <a:r>
              <a:rPr sz="1250" spc="-10" dirty="0">
                <a:solidFill>
                  <a:srgbClr val="0D0D0D"/>
                </a:solidFill>
                <a:latin typeface="Times New Roman"/>
                <a:cs typeface="Times New Roman"/>
              </a:rPr>
              <a:t>CHITIKENA</a:t>
            </a:r>
            <a:endParaRPr lang="en-IN" sz="1250" spc="-10">
              <a:latin typeface="Times New Roman"/>
              <a:cs typeface="Times New Roman"/>
            </a:endParaRPr>
          </a:p>
          <a:p>
            <a:pPr algn="ctr">
              <a:lnSpc>
                <a:spcPts val="1350"/>
              </a:lnSpc>
              <a:spcBef>
                <a:spcPts val="125"/>
              </a:spcBef>
            </a:pPr>
            <a:r>
              <a:rPr sz="1250">
                <a:solidFill>
                  <a:srgbClr val="0D0D0D"/>
                </a:solidFill>
                <a:latin typeface="Times New Roman"/>
                <a:cs typeface="Times New Roman"/>
              </a:rPr>
              <a:t>Name</a:t>
            </a:r>
            <a:r>
              <a:rPr sz="1250" spc="39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D0D0D"/>
                </a:solidFill>
                <a:latin typeface="Times New Roman"/>
                <a:cs typeface="Times New Roman"/>
              </a:rPr>
              <a:t>V</a:t>
            </a:r>
            <a:r>
              <a:rPr sz="1250" spc="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D0D0D"/>
                </a:solidFill>
                <a:latin typeface="Times New Roman"/>
                <a:cs typeface="Times New Roman"/>
              </a:rPr>
              <a:t>SRI</a:t>
            </a:r>
            <a:r>
              <a:rPr sz="1250" spc="5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D0D0D"/>
                </a:solidFill>
                <a:latin typeface="Times New Roman"/>
                <a:cs typeface="Times New Roman"/>
              </a:rPr>
              <a:t>VAISHNAVI</a:t>
            </a:r>
            <a:endParaRPr sz="125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02119" y="1811337"/>
            <a:ext cx="1222375" cy="3727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0014">
              <a:lnSpc>
                <a:spcPts val="1350"/>
              </a:lnSpc>
              <a:spcBef>
                <a:spcPts val="125"/>
              </a:spcBef>
            </a:pPr>
            <a:r>
              <a:rPr sz="1250" dirty="0">
                <a:solidFill>
                  <a:srgbClr val="0D0D0D"/>
                </a:solidFill>
                <a:latin typeface="Times New Roman"/>
                <a:cs typeface="Times New Roman"/>
              </a:rPr>
              <a:t>roll</a:t>
            </a:r>
            <a:r>
              <a:rPr sz="1250" spc="3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D0D0D"/>
                </a:solidFill>
                <a:latin typeface="Times New Roman"/>
                <a:cs typeface="Times New Roman"/>
              </a:rPr>
              <a:t>2520030331</a:t>
            </a:r>
            <a:endParaRPr sz="1250" dirty="0">
              <a:latin typeface="Times New Roman"/>
              <a:cs typeface="Times New Roman"/>
            </a:endParaRPr>
          </a:p>
          <a:p>
            <a:pPr marL="12700">
              <a:lnSpc>
                <a:spcPts val="1350"/>
              </a:lnSpc>
            </a:pPr>
            <a:r>
              <a:rPr lang="en-US" sz="1250" dirty="0">
                <a:solidFill>
                  <a:srgbClr val="0D0D0D"/>
                </a:solidFill>
                <a:latin typeface="Times New Roman"/>
                <a:cs typeface="Times New Roman"/>
              </a:rPr>
              <a:t>  </a:t>
            </a:r>
            <a:r>
              <a:rPr sz="1250" dirty="0">
                <a:solidFill>
                  <a:srgbClr val="0D0D0D"/>
                </a:solidFill>
                <a:latin typeface="Times New Roman"/>
                <a:cs typeface="Times New Roman"/>
              </a:rPr>
              <a:t>roll</a:t>
            </a:r>
            <a:r>
              <a:rPr sz="1250" spc="10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D0D0D"/>
                </a:solidFill>
                <a:latin typeface="Times New Roman"/>
                <a:cs typeface="Times New Roman"/>
              </a:rPr>
              <a:t>2520090117</a:t>
            </a:r>
            <a:endParaRPr sz="125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28266" y="2441003"/>
            <a:ext cx="4979035" cy="13779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400" b="1" spc="-20" dirty="0">
                <a:solidFill>
                  <a:srgbClr val="00AFEF"/>
                </a:solidFill>
                <a:latin typeface="Times New Roman"/>
                <a:cs typeface="Times New Roman"/>
              </a:rPr>
              <a:t>Team</a:t>
            </a:r>
            <a:r>
              <a:rPr sz="1400" b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AFEF"/>
                </a:solidFill>
                <a:latin typeface="Times New Roman"/>
                <a:cs typeface="Times New Roman"/>
              </a:rPr>
              <a:t>Number:</a:t>
            </a:r>
            <a:r>
              <a:rPr sz="1400" b="1" spc="-6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33</a:t>
            </a:r>
            <a:endParaRPr sz="14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475"/>
              </a:spcBef>
            </a:pPr>
            <a:r>
              <a:rPr sz="1250" b="1" i="1" dirty="0">
                <a:solidFill>
                  <a:srgbClr val="FF0000"/>
                </a:solidFill>
                <a:latin typeface="Times New Roman"/>
                <a:cs typeface="Times New Roman"/>
              </a:rPr>
              <a:t>Under</a:t>
            </a:r>
            <a:r>
              <a:rPr sz="1250" b="1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50" b="1" i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1250" b="1" i="1" spc="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50" b="1" i="1" dirty="0">
                <a:solidFill>
                  <a:srgbClr val="FF0000"/>
                </a:solidFill>
                <a:latin typeface="Times New Roman"/>
                <a:cs typeface="Times New Roman"/>
              </a:rPr>
              <a:t>guidance</a:t>
            </a:r>
            <a:r>
              <a:rPr sz="1250" b="1" i="1" spc="1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50" b="1" i="1" spc="-25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endParaRPr lang="en-IN" sz="1250" dirty="0">
              <a:latin typeface="Times New Roman"/>
              <a:cs typeface="Times New Roman"/>
            </a:endParaRPr>
          </a:p>
          <a:p>
            <a:pPr algn="ctr" rtl="0"/>
            <a:r>
              <a:rPr lang="en-IN" sz="1400" b="1" spc="-50" dirty="0">
                <a:solidFill>
                  <a:srgbClr val="00B0F0"/>
                </a:solidFill>
                <a:latin typeface="Times New Roman"/>
                <a:cs typeface="Times New Roman"/>
              </a:rPr>
              <a:t>Dr.</a:t>
            </a:r>
            <a:r>
              <a:rPr lang="en-IN" sz="1400" b="1" spc="-3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lang="en-IN" sz="1400" b="1" dirty="0">
                <a:solidFill>
                  <a:srgbClr val="00B0F0"/>
                </a:solidFill>
              </a:rPr>
              <a:t>Nirmala Jyothi</a:t>
            </a:r>
            <a:endParaRPr lang="en-IN" sz="1400" b="1" dirty="0">
              <a:solidFill>
                <a:srgbClr val="00B0F0"/>
              </a:solidFill>
              <a:latin typeface="Times New Roman"/>
              <a:cs typeface="Times New Roman"/>
            </a:endParaRPr>
          </a:p>
          <a:p>
            <a:pPr algn="ctr">
              <a:lnSpc>
                <a:spcPts val="1515"/>
              </a:lnSpc>
            </a:pPr>
            <a:r>
              <a:rPr sz="1400" b="1" dirty="0">
                <a:solidFill>
                  <a:srgbClr val="00AFEF"/>
                </a:solidFill>
                <a:latin typeface="Times New Roman"/>
                <a:cs typeface="Times New Roman"/>
              </a:rPr>
              <a:t>Associate</a:t>
            </a:r>
            <a:r>
              <a:rPr sz="14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Professor</a:t>
            </a:r>
            <a:endParaRPr sz="14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50"/>
              </a:spcBef>
            </a:pPr>
            <a:r>
              <a:rPr sz="1800" b="1" dirty="0">
                <a:solidFill>
                  <a:srgbClr val="006FC0"/>
                </a:solidFill>
                <a:latin typeface="Times New Roman"/>
                <a:cs typeface="Times New Roman"/>
              </a:rPr>
              <a:t>Department</a:t>
            </a:r>
            <a:r>
              <a:rPr sz="18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imes New Roman"/>
                <a:cs typeface="Times New Roman"/>
              </a:rPr>
              <a:t>of</a:t>
            </a:r>
            <a:r>
              <a:rPr sz="18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imes New Roman"/>
                <a:cs typeface="Times New Roman"/>
              </a:rPr>
              <a:t>Computer</a:t>
            </a:r>
            <a:r>
              <a:rPr sz="1800" b="1" spc="-6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imes New Roman"/>
                <a:cs typeface="Times New Roman"/>
              </a:rPr>
              <a:t>Science</a:t>
            </a:r>
            <a:r>
              <a:rPr sz="1800" b="1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imes New Roman"/>
                <a:cs typeface="Times New Roman"/>
              </a:rPr>
              <a:t>and</a:t>
            </a:r>
            <a:r>
              <a:rPr sz="1800" b="1" spc="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Engineering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9775" y="5236174"/>
            <a:ext cx="8369934" cy="133921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sz="2750" b="1" dirty="0">
                <a:latin typeface="Times New Roman"/>
                <a:cs typeface="Times New Roman"/>
              </a:rPr>
              <a:t>Koneru</a:t>
            </a:r>
            <a:r>
              <a:rPr sz="2750" b="1" spc="165" dirty="0">
                <a:latin typeface="Times New Roman"/>
                <a:cs typeface="Times New Roman"/>
              </a:rPr>
              <a:t> </a:t>
            </a:r>
            <a:r>
              <a:rPr sz="2750" b="1" dirty="0">
                <a:latin typeface="Times New Roman"/>
                <a:cs typeface="Times New Roman"/>
              </a:rPr>
              <a:t>Lakshmaiah</a:t>
            </a:r>
            <a:r>
              <a:rPr sz="2750" b="1" spc="185" dirty="0">
                <a:latin typeface="Times New Roman"/>
                <a:cs typeface="Times New Roman"/>
              </a:rPr>
              <a:t> </a:t>
            </a:r>
            <a:r>
              <a:rPr sz="2750" b="1" dirty="0">
                <a:latin typeface="Times New Roman"/>
                <a:cs typeface="Times New Roman"/>
              </a:rPr>
              <a:t>Education</a:t>
            </a:r>
            <a:r>
              <a:rPr sz="2750" b="1" spc="190" dirty="0">
                <a:latin typeface="Times New Roman"/>
                <a:cs typeface="Times New Roman"/>
              </a:rPr>
              <a:t> </a:t>
            </a:r>
            <a:r>
              <a:rPr sz="2750" b="1" spc="-10" dirty="0">
                <a:latin typeface="Times New Roman"/>
                <a:cs typeface="Times New Roman"/>
              </a:rPr>
              <a:t>Foundation</a:t>
            </a:r>
            <a:endParaRPr sz="27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sz="1800" b="1" dirty="0">
                <a:latin typeface="Times New Roman"/>
                <a:cs typeface="Times New Roman"/>
              </a:rPr>
              <a:t>(Deemed</a:t>
            </a:r>
            <a:r>
              <a:rPr sz="1800" b="1" spc="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to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be</a:t>
            </a:r>
            <a:r>
              <a:rPr sz="1800" b="1" spc="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University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estd.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u/s.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3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UGC</a:t>
            </a:r>
            <a:r>
              <a:rPr sz="1800" b="1" spc="-10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Act,</a:t>
            </a:r>
            <a:r>
              <a:rPr sz="1800" b="1" spc="-10" dirty="0">
                <a:latin typeface="Times New Roman"/>
                <a:cs typeface="Times New Roman"/>
              </a:rPr>
              <a:t> 1956)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90"/>
              </a:spcBef>
            </a:pPr>
            <a:r>
              <a:rPr sz="1550" b="1" dirty="0">
                <a:latin typeface="Times New Roman"/>
                <a:cs typeface="Times New Roman"/>
              </a:rPr>
              <a:t>Off-Campus:</a:t>
            </a:r>
            <a:r>
              <a:rPr sz="1550" b="1" spc="175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Times New Roman"/>
                <a:cs typeface="Times New Roman"/>
              </a:rPr>
              <a:t>Bachupally-Gandimaisamma</a:t>
            </a:r>
            <a:r>
              <a:rPr sz="1550" b="1" spc="215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Times New Roman"/>
                <a:cs typeface="Times New Roman"/>
              </a:rPr>
              <a:t>Road,</a:t>
            </a:r>
            <a:r>
              <a:rPr sz="1550" b="1" spc="125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Times New Roman"/>
                <a:cs typeface="Times New Roman"/>
              </a:rPr>
              <a:t>Bowrampet,</a:t>
            </a:r>
            <a:r>
              <a:rPr sz="1550" b="1" spc="220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Times New Roman"/>
                <a:cs typeface="Times New Roman"/>
              </a:rPr>
              <a:t>Hyderabad,</a:t>
            </a:r>
            <a:r>
              <a:rPr sz="1550" b="1" spc="114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Times New Roman"/>
                <a:cs typeface="Times New Roman"/>
              </a:rPr>
              <a:t>Telangana</a:t>
            </a:r>
            <a:r>
              <a:rPr sz="1550" b="1" spc="215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Times New Roman"/>
                <a:cs typeface="Times New Roman"/>
              </a:rPr>
              <a:t>-</a:t>
            </a:r>
            <a:r>
              <a:rPr sz="1550" b="1" spc="190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Times New Roman"/>
                <a:cs typeface="Times New Roman"/>
              </a:rPr>
              <a:t>500</a:t>
            </a:r>
            <a:r>
              <a:rPr sz="1550" b="1" spc="190" dirty="0">
                <a:latin typeface="Times New Roman"/>
                <a:cs typeface="Times New Roman"/>
              </a:rPr>
              <a:t> </a:t>
            </a:r>
            <a:r>
              <a:rPr sz="1550" b="1" spc="-20" dirty="0">
                <a:latin typeface="Times New Roman"/>
                <a:cs typeface="Times New Roman"/>
              </a:rPr>
              <a:t>043.</a:t>
            </a:r>
            <a:endParaRPr sz="155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  <a:spcBef>
                <a:spcPts val="245"/>
              </a:spcBef>
            </a:pPr>
            <a:r>
              <a:rPr sz="1550" b="1" dirty="0">
                <a:latin typeface="Times New Roman"/>
                <a:cs typeface="Times New Roman"/>
              </a:rPr>
              <a:t>Phone</a:t>
            </a:r>
            <a:r>
              <a:rPr sz="1550" b="1" spc="90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Times New Roman"/>
                <a:cs typeface="Times New Roman"/>
              </a:rPr>
              <a:t>No:</a:t>
            </a:r>
            <a:r>
              <a:rPr sz="1550" b="1" spc="125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Times New Roman"/>
                <a:cs typeface="Times New Roman"/>
              </a:rPr>
              <a:t>7815926816,</a:t>
            </a:r>
            <a:r>
              <a:rPr sz="1550" b="1" spc="145" dirty="0">
                <a:latin typeface="Times New Roman"/>
                <a:cs typeface="Times New Roman"/>
              </a:rPr>
              <a:t> </a:t>
            </a:r>
            <a:r>
              <a:rPr sz="155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www.klh.edu.in</a:t>
            </a:r>
            <a:endParaRPr sz="155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71595" y="4175963"/>
            <a:ext cx="2368910" cy="8710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4043" rIns="0" bIns="0" rtlCol="0">
            <a:spAutoFit/>
          </a:bodyPr>
          <a:lstStyle/>
          <a:p>
            <a:pPr marL="641350">
              <a:lnSpc>
                <a:spcPct val="100000"/>
              </a:lnSpc>
              <a:spcBef>
                <a:spcPts val="125"/>
              </a:spcBef>
            </a:pPr>
            <a:r>
              <a:rPr dirty="0"/>
              <a:t>Outline</a:t>
            </a:r>
            <a:r>
              <a:rPr spc="90" dirty="0"/>
              <a:t> </a:t>
            </a:r>
            <a:r>
              <a:rPr dirty="0"/>
              <a:t>of</a:t>
            </a:r>
            <a:r>
              <a:rPr spc="10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spc="-10" dirty="0"/>
              <a:t>Presentation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857" y="1378076"/>
            <a:ext cx="6853555" cy="455612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6235" indent="-34353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6235" algn="l"/>
              </a:tabLst>
            </a:pPr>
            <a:r>
              <a:rPr sz="3000" spc="-10" dirty="0">
                <a:latin typeface="Times New Roman"/>
                <a:cs typeface="Times New Roman"/>
              </a:rPr>
              <a:t>Abstract</a:t>
            </a:r>
            <a:endParaRPr sz="3000">
              <a:latin typeface="Times New Roman"/>
              <a:cs typeface="Times New Roman"/>
            </a:endParaRPr>
          </a:p>
          <a:p>
            <a:pPr marL="356235" indent="-343535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356235" algn="l"/>
              </a:tabLst>
            </a:pPr>
            <a:r>
              <a:rPr sz="3000" spc="-10" dirty="0">
                <a:latin typeface="Times New Roman"/>
                <a:cs typeface="Times New Roman"/>
              </a:rPr>
              <a:t>Introduction</a:t>
            </a:r>
            <a:endParaRPr sz="3000">
              <a:latin typeface="Times New Roman"/>
              <a:cs typeface="Times New Roman"/>
            </a:endParaRPr>
          </a:p>
          <a:p>
            <a:pPr marL="356235" indent="-343535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356235" algn="l"/>
              </a:tabLst>
            </a:pPr>
            <a:r>
              <a:rPr sz="3000" dirty="0">
                <a:latin typeface="Times New Roman"/>
                <a:cs typeface="Times New Roman"/>
              </a:rPr>
              <a:t>Problem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Statement</a:t>
            </a:r>
            <a:endParaRPr sz="3000">
              <a:latin typeface="Times New Roman"/>
              <a:cs typeface="Times New Roman"/>
            </a:endParaRPr>
          </a:p>
          <a:p>
            <a:pPr marL="356235" indent="-343535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356235" algn="l"/>
              </a:tabLst>
            </a:pPr>
            <a:r>
              <a:rPr sz="3000" dirty="0">
                <a:latin typeface="Times New Roman"/>
                <a:cs typeface="Times New Roman"/>
              </a:rPr>
              <a:t>Project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Flow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Diagram</a:t>
            </a:r>
            <a:endParaRPr sz="3000">
              <a:latin typeface="Times New Roman"/>
              <a:cs typeface="Times New Roman"/>
            </a:endParaRPr>
          </a:p>
          <a:p>
            <a:pPr marL="356235" indent="-343535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356235" algn="l"/>
              </a:tabLst>
            </a:pPr>
            <a:r>
              <a:rPr sz="3000" dirty="0">
                <a:latin typeface="Times New Roman"/>
                <a:cs typeface="Times New Roman"/>
              </a:rPr>
              <a:t>Objectives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with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Justification</a:t>
            </a:r>
            <a:endParaRPr sz="3000">
              <a:latin typeface="Times New Roman"/>
              <a:cs typeface="Times New Roman"/>
            </a:endParaRPr>
          </a:p>
          <a:p>
            <a:pPr marL="356235" indent="-343535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356235" algn="l"/>
              </a:tabLst>
            </a:pPr>
            <a:r>
              <a:rPr sz="3000" dirty="0">
                <a:latin typeface="Times New Roman"/>
                <a:cs typeface="Times New Roman"/>
              </a:rPr>
              <a:t>Modules[Frontend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web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pages]</a:t>
            </a:r>
            <a:endParaRPr sz="3000">
              <a:latin typeface="Times New Roman"/>
              <a:cs typeface="Times New Roman"/>
            </a:endParaRPr>
          </a:p>
          <a:p>
            <a:pPr marL="356235" indent="-343535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356235" algn="l"/>
              </a:tabLst>
            </a:pPr>
            <a:r>
              <a:rPr sz="3000" dirty="0">
                <a:latin typeface="Times New Roman"/>
                <a:cs typeface="Times New Roman"/>
              </a:rPr>
              <a:t>Expected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Outcomes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Proposed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Work</a:t>
            </a:r>
            <a:endParaRPr sz="3000">
              <a:latin typeface="Times New Roman"/>
              <a:cs typeface="Times New Roman"/>
            </a:endParaRPr>
          </a:p>
          <a:p>
            <a:pPr marL="356235" indent="-343535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356235" algn="l"/>
              </a:tabLst>
            </a:pPr>
            <a:r>
              <a:rPr sz="3000" spc="-10" dirty="0">
                <a:latin typeface="Times New Roman"/>
                <a:cs typeface="Times New Roman"/>
              </a:rPr>
              <a:t>Conclusion</a:t>
            </a:r>
            <a:endParaRPr sz="3000">
              <a:latin typeface="Times New Roman"/>
              <a:cs typeface="Times New Roman"/>
            </a:endParaRPr>
          </a:p>
          <a:p>
            <a:pPr marL="356235" indent="-343535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356235" algn="l"/>
              </a:tabLst>
            </a:pPr>
            <a:r>
              <a:rPr sz="3000" spc="-10" dirty="0">
                <a:latin typeface="Times New Roman"/>
                <a:cs typeface="Times New Roman"/>
              </a:rPr>
              <a:t>References</a:t>
            </a:r>
            <a:endParaRPr sz="3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852" y="340743"/>
            <a:ext cx="1374329" cy="4787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9135" rIns="0" bIns="0" rtlCol="0">
            <a:spAutoFit/>
          </a:bodyPr>
          <a:lstStyle/>
          <a:p>
            <a:pPr marL="2028189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Abstract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36575" y="1366519"/>
            <a:ext cx="8036559" cy="4728795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355600" marR="5080" indent="-343535">
              <a:lnSpc>
                <a:spcPct val="81700"/>
              </a:lnSpc>
              <a:spcBef>
                <a:spcPts val="665"/>
              </a:spcBef>
              <a:buFont typeface="Arial MT"/>
              <a:buChar char="•"/>
              <a:tabLst>
                <a:tab pos="355600" algn="l"/>
              </a:tabLst>
            </a:pPr>
            <a:r>
              <a:rPr b="0" dirty="0">
                <a:latin typeface="Calibri"/>
                <a:cs typeface="Calibri"/>
              </a:rPr>
              <a:t>The Pharmacy Inventory</a:t>
            </a:r>
            <a:r>
              <a:rPr b="0" spc="-1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Management System</a:t>
            </a:r>
            <a:r>
              <a:rPr b="0" spc="10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is a</a:t>
            </a:r>
            <a:r>
              <a:rPr b="0" spc="-5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web-</a:t>
            </a:r>
            <a:r>
              <a:rPr b="0" dirty="0">
                <a:latin typeface="Calibri"/>
                <a:cs typeface="Calibri"/>
              </a:rPr>
              <a:t>based</a:t>
            </a:r>
            <a:r>
              <a:rPr b="0" spc="8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application</a:t>
            </a:r>
            <a:r>
              <a:rPr b="0" spc="8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built</a:t>
            </a:r>
            <a:r>
              <a:rPr b="0" spc="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using</a:t>
            </a:r>
            <a:r>
              <a:rPr b="0" spc="65" dirty="0">
                <a:latin typeface="Calibri"/>
                <a:cs typeface="Calibri"/>
              </a:rPr>
              <a:t> </a:t>
            </a:r>
            <a:r>
              <a:rPr lang="en-IN" b="0" spc="65" dirty="0"/>
              <a:t>React and </a:t>
            </a:r>
            <a:r>
              <a:rPr b="0" spc="-10" dirty="0">
                <a:latin typeface="Calibri"/>
                <a:cs typeface="Calibri"/>
              </a:rPr>
              <a:t>JavaScript</a:t>
            </a:r>
            <a:r>
              <a:rPr b="0" spc="61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that</a:t>
            </a:r>
            <a:r>
              <a:rPr b="0" spc="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automates and</a:t>
            </a:r>
            <a:r>
              <a:rPr b="0" spc="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simplifies</a:t>
            </a:r>
            <a:r>
              <a:rPr b="0" spc="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pharmacy</a:t>
            </a:r>
            <a:r>
              <a:rPr b="0" spc="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stock</a:t>
            </a:r>
            <a:r>
              <a:rPr b="0" spc="7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operations.</a:t>
            </a:r>
            <a:r>
              <a:rPr b="0" spc="610" dirty="0">
                <a:latin typeface="Calibri"/>
                <a:cs typeface="Calibri"/>
              </a:rPr>
              <a:t>  </a:t>
            </a:r>
            <a:r>
              <a:rPr b="0" dirty="0">
                <a:latin typeface="Calibri"/>
                <a:cs typeface="Calibri"/>
              </a:rPr>
              <a:t>It</a:t>
            </a:r>
            <a:r>
              <a:rPr b="0" spc="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features</a:t>
            </a:r>
            <a:r>
              <a:rPr b="0" spc="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role-based</a:t>
            </a:r>
            <a:r>
              <a:rPr b="0" spc="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access</a:t>
            </a:r>
            <a:r>
              <a:rPr b="0" spc="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control</a:t>
            </a:r>
            <a:r>
              <a:rPr b="0" spc="2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with</a:t>
            </a:r>
            <a:r>
              <a:rPr b="0" spc="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an</a:t>
            </a:r>
            <a:r>
              <a:rPr b="0" spc="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Admin</a:t>
            </a:r>
            <a:r>
              <a:rPr b="0" spc="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role</a:t>
            </a:r>
            <a:r>
              <a:rPr b="0" spc="110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for </a:t>
            </a:r>
            <a:r>
              <a:rPr b="0" dirty="0">
                <a:latin typeface="Calibri"/>
                <a:cs typeface="Calibri"/>
              </a:rPr>
              <a:t>full</a:t>
            </a:r>
            <a:r>
              <a:rPr b="0" spc="10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management</a:t>
            </a:r>
            <a:r>
              <a:rPr b="0" spc="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and</a:t>
            </a:r>
            <a:r>
              <a:rPr b="0" spc="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standard</a:t>
            </a:r>
            <a:r>
              <a:rPr b="0" spc="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roles</a:t>
            </a:r>
            <a:r>
              <a:rPr b="0" spc="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for</a:t>
            </a:r>
            <a:r>
              <a:rPr b="0" spc="114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read-only</a:t>
            </a:r>
            <a:r>
              <a:rPr b="0" spc="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access. </a:t>
            </a:r>
            <a:r>
              <a:rPr b="0" dirty="0">
                <a:latin typeface="Calibri"/>
                <a:cs typeface="Calibri"/>
              </a:rPr>
              <a:t>Core</a:t>
            </a:r>
            <a:r>
              <a:rPr b="0" spc="11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functionalities</a:t>
            </a:r>
            <a:r>
              <a:rPr b="0" spc="7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include</a:t>
            </a:r>
            <a:r>
              <a:rPr b="0" spc="114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real-time</a:t>
            </a:r>
            <a:r>
              <a:rPr b="0" spc="114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stock</a:t>
            </a:r>
            <a:r>
              <a:rPr b="0" spc="7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monitoring</a:t>
            </a:r>
            <a:r>
              <a:rPr b="0" spc="105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with </a:t>
            </a:r>
            <a:r>
              <a:rPr b="0" dirty="0">
                <a:latin typeface="Calibri"/>
                <a:cs typeface="Calibri"/>
              </a:rPr>
              <a:t>low-stock</a:t>
            </a:r>
            <a:r>
              <a:rPr b="0" spc="8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and</a:t>
            </a:r>
            <a:r>
              <a:rPr b="0" spc="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out-of-stock</a:t>
            </a:r>
            <a:r>
              <a:rPr b="0" spc="9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alerts,</a:t>
            </a:r>
            <a:r>
              <a:rPr b="0" spc="7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automated</a:t>
            </a:r>
            <a:r>
              <a:rPr b="0" spc="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expiry</a:t>
            </a:r>
            <a:r>
              <a:rPr b="0" spc="100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date </a:t>
            </a:r>
            <a:r>
              <a:rPr b="0" dirty="0">
                <a:latin typeface="Calibri"/>
                <a:cs typeface="Calibri"/>
              </a:rPr>
              <a:t>notifications,</a:t>
            </a:r>
            <a:r>
              <a:rPr b="0" spc="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supplier</a:t>
            </a:r>
            <a:r>
              <a:rPr b="0" spc="114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order</a:t>
            </a:r>
            <a:r>
              <a:rPr b="0" spc="12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management,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</a:t>
            </a:r>
            <a:r>
              <a:rPr b="0" spc="9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medicine </a:t>
            </a:r>
            <a:r>
              <a:rPr b="0" dirty="0">
                <a:latin typeface="Calibri"/>
                <a:cs typeface="Calibri"/>
              </a:rPr>
              <a:t>dispense</a:t>
            </a:r>
            <a:r>
              <a:rPr b="0" spc="10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log,</a:t>
            </a:r>
            <a:r>
              <a:rPr b="0" spc="10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and</a:t>
            </a:r>
            <a:r>
              <a:rPr b="0" spc="10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barcode-based</a:t>
            </a:r>
            <a:r>
              <a:rPr b="0" spc="10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drug</a:t>
            </a:r>
            <a:r>
              <a:rPr b="0" spc="9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lookup.</a:t>
            </a:r>
            <a:r>
              <a:rPr b="0" spc="10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An</a:t>
            </a:r>
            <a:r>
              <a:rPr b="0" spc="10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analytics </a:t>
            </a:r>
            <a:r>
              <a:rPr b="0" dirty="0">
                <a:latin typeface="Calibri"/>
                <a:cs typeface="Calibri"/>
              </a:rPr>
              <a:t>dashboard</a:t>
            </a:r>
            <a:r>
              <a:rPr b="0" spc="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powered</a:t>
            </a:r>
            <a:r>
              <a:rPr b="0" spc="8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by</a:t>
            </a:r>
            <a:r>
              <a:rPr b="0" spc="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Chart.js</a:t>
            </a:r>
            <a:r>
              <a:rPr b="0" spc="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provides</a:t>
            </a:r>
            <a:r>
              <a:rPr b="0" spc="114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visual</a:t>
            </a:r>
            <a:r>
              <a:rPr b="0" spc="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reports</a:t>
            </a:r>
            <a:r>
              <a:rPr b="0" spc="35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on </a:t>
            </a:r>
            <a:r>
              <a:rPr b="0" dirty="0">
                <a:latin typeface="Calibri"/>
                <a:cs typeface="Calibri"/>
              </a:rPr>
              <a:t>stock</a:t>
            </a:r>
            <a:r>
              <a:rPr b="0" spc="10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levels,</a:t>
            </a:r>
            <a:r>
              <a:rPr b="0" spc="9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dispensing</a:t>
            </a:r>
            <a:r>
              <a:rPr b="0" spc="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trends,</a:t>
            </a:r>
            <a:r>
              <a:rPr b="0" spc="9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and</a:t>
            </a:r>
            <a:r>
              <a:rPr b="0" spc="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top-</a:t>
            </a:r>
            <a:r>
              <a:rPr b="0" spc="-10" dirty="0">
                <a:latin typeface="Calibri"/>
                <a:cs typeface="Calibri"/>
              </a:rPr>
              <a:t>consumed </a:t>
            </a:r>
            <a:r>
              <a:rPr b="0" dirty="0">
                <a:latin typeface="Calibri"/>
                <a:cs typeface="Calibri"/>
              </a:rPr>
              <a:t>medicines.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Data</a:t>
            </a:r>
            <a:r>
              <a:rPr b="0" spc="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is</a:t>
            </a:r>
            <a:r>
              <a:rPr b="0" spc="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stored</a:t>
            </a:r>
            <a:r>
              <a:rPr b="0" spc="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locally</a:t>
            </a:r>
            <a:r>
              <a:rPr b="0" spc="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via</a:t>
            </a:r>
            <a:r>
              <a:rPr b="0" spc="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browser</a:t>
            </a:r>
            <a:r>
              <a:rPr b="0" spc="16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localStorage </a:t>
            </a:r>
            <a:r>
              <a:rPr b="0" dirty="0">
                <a:latin typeface="Calibri"/>
                <a:cs typeface="Calibri"/>
              </a:rPr>
              <a:t>with</a:t>
            </a:r>
            <a:r>
              <a:rPr b="0" spc="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support</a:t>
            </a:r>
            <a:r>
              <a:rPr b="0" spc="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for</a:t>
            </a:r>
            <a:r>
              <a:rPr b="0" spc="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CSV</a:t>
            </a:r>
            <a:r>
              <a:rPr b="0" spc="1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and</a:t>
            </a:r>
            <a:r>
              <a:rPr b="0" spc="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PDF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export.</a:t>
            </a:r>
            <a:r>
              <a:rPr b="0" spc="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The</a:t>
            </a:r>
            <a:r>
              <a:rPr b="0" spc="11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system</a:t>
            </a:r>
            <a:r>
              <a:rPr b="0" spc="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aims</a:t>
            </a:r>
            <a:r>
              <a:rPr b="0" spc="70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to </a:t>
            </a:r>
            <a:r>
              <a:rPr b="0" dirty="0">
                <a:latin typeface="Calibri"/>
                <a:cs typeface="Calibri"/>
              </a:rPr>
              <a:t>minimize</a:t>
            </a:r>
            <a:r>
              <a:rPr b="0" spc="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manual</a:t>
            </a:r>
            <a:r>
              <a:rPr b="0" spc="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errors,</a:t>
            </a:r>
            <a:r>
              <a:rPr b="0" spc="9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prevent</a:t>
            </a:r>
            <a:r>
              <a:rPr b="0" spc="9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stock-outs,</a:t>
            </a:r>
            <a:r>
              <a:rPr b="0" spc="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and</a:t>
            </a:r>
            <a:r>
              <a:rPr b="0" spc="7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improve </a:t>
            </a:r>
            <a:r>
              <a:rPr b="0" dirty="0">
                <a:latin typeface="Calibri"/>
                <a:cs typeface="Calibri"/>
              </a:rPr>
              <a:t>overall</a:t>
            </a:r>
            <a:r>
              <a:rPr b="0" spc="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pharmacy</a:t>
            </a:r>
            <a:r>
              <a:rPr b="0" spc="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inventory</a:t>
            </a:r>
            <a:r>
              <a:rPr b="0" spc="5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efficiency.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444" y="340743"/>
            <a:ext cx="1446662" cy="4787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8660" rIns="0" bIns="0" rtlCol="0">
            <a:spAutoFit/>
          </a:bodyPr>
          <a:lstStyle/>
          <a:p>
            <a:pPr marL="1723389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575" y="1549399"/>
            <a:ext cx="8035290" cy="4110421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355600" marR="5080" indent="-343535">
              <a:lnSpc>
                <a:spcPct val="81700"/>
              </a:lnSpc>
              <a:spcBef>
                <a:spcPts val="665"/>
              </a:spcBef>
              <a:buFont typeface="Arial MT"/>
              <a:buChar char="•"/>
              <a:tabLst>
                <a:tab pos="355600" algn="l"/>
              </a:tabLst>
            </a:pPr>
            <a:r>
              <a:rPr sz="2450" dirty="0">
                <a:latin typeface="Calibri"/>
                <a:cs typeface="Calibri"/>
              </a:rPr>
              <a:t>Managing</a:t>
            </a:r>
            <a:r>
              <a:rPr sz="2450" spc="9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pharmacy</a:t>
            </a:r>
            <a:r>
              <a:rPr sz="2450" spc="5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inventory</a:t>
            </a:r>
            <a:r>
              <a:rPr sz="2450" spc="14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manually</a:t>
            </a:r>
            <a:r>
              <a:rPr sz="2450" spc="14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is</a:t>
            </a:r>
            <a:r>
              <a:rPr sz="2450" spc="14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time-</a:t>
            </a:r>
            <a:r>
              <a:rPr sz="2450" spc="-10" dirty="0">
                <a:latin typeface="Calibri"/>
                <a:cs typeface="Calibri"/>
              </a:rPr>
              <a:t>consuming </a:t>
            </a:r>
            <a:r>
              <a:rPr sz="2450" dirty="0">
                <a:latin typeface="Calibri"/>
                <a:cs typeface="Calibri"/>
              </a:rPr>
              <a:t>and</a:t>
            </a:r>
            <a:r>
              <a:rPr sz="2450" spc="4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prone</a:t>
            </a:r>
            <a:r>
              <a:rPr sz="2450" spc="5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to</a:t>
            </a:r>
            <a:r>
              <a:rPr sz="2450" spc="4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errors,</a:t>
            </a:r>
            <a:r>
              <a:rPr sz="2450" spc="7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leading</a:t>
            </a:r>
            <a:r>
              <a:rPr sz="2450" spc="3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to</a:t>
            </a:r>
            <a:r>
              <a:rPr sz="2450" spc="4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stock-outs</a:t>
            </a:r>
            <a:r>
              <a:rPr sz="2450" spc="9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and</a:t>
            </a:r>
            <a:r>
              <a:rPr sz="2450" spc="6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medicine </a:t>
            </a:r>
            <a:r>
              <a:rPr sz="2450" dirty="0">
                <a:latin typeface="Calibri"/>
                <a:cs typeface="Calibri"/>
              </a:rPr>
              <a:t>wastage.</a:t>
            </a:r>
            <a:r>
              <a:rPr sz="2450" spc="4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The</a:t>
            </a:r>
            <a:r>
              <a:rPr sz="2450" spc="10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Pharmacy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Inventory</a:t>
            </a:r>
            <a:r>
              <a:rPr sz="2450" spc="7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Management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System</a:t>
            </a:r>
            <a:r>
              <a:rPr sz="2450" spc="4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is</a:t>
            </a:r>
            <a:r>
              <a:rPr sz="2450" spc="75" dirty="0">
                <a:latin typeface="Calibri"/>
                <a:cs typeface="Calibri"/>
              </a:rPr>
              <a:t> </a:t>
            </a:r>
            <a:r>
              <a:rPr sz="2450" spc="-50" dirty="0">
                <a:latin typeface="Calibri"/>
                <a:cs typeface="Calibri"/>
              </a:rPr>
              <a:t>a </a:t>
            </a:r>
            <a:r>
              <a:rPr sz="2450" dirty="0">
                <a:latin typeface="Calibri"/>
                <a:cs typeface="Calibri"/>
              </a:rPr>
              <a:t>web-based</a:t>
            </a:r>
            <a:r>
              <a:rPr sz="2450" spc="10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application</a:t>
            </a:r>
            <a:r>
              <a:rPr sz="2450" spc="10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built</a:t>
            </a:r>
            <a:r>
              <a:rPr sz="2450" spc="4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using</a:t>
            </a:r>
            <a:r>
              <a:rPr lang="en-IN" sz="2450" dirty="0">
                <a:latin typeface="Calibri"/>
                <a:cs typeface="Calibri"/>
              </a:rPr>
              <a:t> React</a:t>
            </a:r>
            <a:r>
              <a:rPr sz="2450" dirty="0">
                <a:latin typeface="Calibri"/>
                <a:cs typeface="Calibri"/>
              </a:rPr>
              <a:t>,</a:t>
            </a:r>
            <a:r>
              <a:rPr sz="2450" spc="114" dirty="0">
                <a:latin typeface="Calibri"/>
                <a:cs typeface="Calibri"/>
              </a:rPr>
              <a:t> </a:t>
            </a:r>
            <a:r>
              <a:rPr sz="2450" spc="-25" dirty="0">
                <a:latin typeface="Calibri"/>
                <a:cs typeface="Calibri"/>
              </a:rPr>
              <a:t>and</a:t>
            </a:r>
            <a:r>
              <a:rPr sz="2450" spc="6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JavaScript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to</a:t>
            </a:r>
            <a:r>
              <a:rPr sz="2450" spc="5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automate</a:t>
            </a:r>
            <a:r>
              <a:rPr sz="2450" spc="4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these</a:t>
            </a:r>
            <a:r>
              <a:rPr sz="2450" spc="5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operations.</a:t>
            </a:r>
            <a:r>
              <a:rPr sz="2450" spc="6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It</a:t>
            </a:r>
            <a:r>
              <a:rPr sz="2450" spc="7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provides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50" dirty="0">
                <a:latin typeface="Calibri"/>
                <a:cs typeface="Calibri"/>
              </a:rPr>
              <a:t>a </a:t>
            </a:r>
            <a:r>
              <a:rPr sz="2450" dirty="0">
                <a:latin typeface="Calibri"/>
                <a:cs typeface="Calibri"/>
              </a:rPr>
              <a:t>centralized</a:t>
            </a:r>
            <a:r>
              <a:rPr sz="2450" spc="7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dashboard</a:t>
            </a:r>
            <a:r>
              <a:rPr sz="2450" spc="6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for</a:t>
            </a:r>
            <a:r>
              <a:rPr sz="2450" spc="5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monitoring</a:t>
            </a:r>
            <a:r>
              <a:rPr sz="2450" spc="13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real-time</a:t>
            </a:r>
            <a:r>
              <a:rPr sz="2450" spc="5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stock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levels, </a:t>
            </a:r>
            <a:r>
              <a:rPr sz="2450" dirty="0">
                <a:latin typeface="Calibri"/>
                <a:cs typeface="Calibri"/>
              </a:rPr>
              <a:t>expiry</a:t>
            </a:r>
            <a:r>
              <a:rPr sz="2450" spc="4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alerts,</a:t>
            </a:r>
            <a:r>
              <a:rPr sz="2450" spc="114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supplier</a:t>
            </a:r>
            <a:r>
              <a:rPr sz="2450" spc="9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order</a:t>
            </a:r>
            <a:r>
              <a:rPr sz="2450" spc="9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management,</a:t>
            </a:r>
            <a:r>
              <a:rPr sz="2450" spc="11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dispense</a:t>
            </a:r>
            <a:r>
              <a:rPr sz="2450" spc="610" dirty="0">
                <a:latin typeface="Calibri"/>
                <a:cs typeface="Calibri"/>
              </a:rPr>
              <a:t>  </a:t>
            </a:r>
            <a:r>
              <a:rPr sz="2450" dirty="0">
                <a:latin typeface="Calibri"/>
                <a:cs typeface="Calibri"/>
              </a:rPr>
              <a:t>logging,</a:t>
            </a:r>
            <a:r>
              <a:rPr sz="2450" spc="1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and</a:t>
            </a:r>
            <a:r>
              <a:rPr sz="2450" spc="1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barcode-based</a:t>
            </a:r>
            <a:r>
              <a:rPr sz="2450" spc="1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drug</a:t>
            </a:r>
            <a:r>
              <a:rPr sz="2450" spc="10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lookup.</a:t>
            </a:r>
            <a:r>
              <a:rPr sz="2450" spc="114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</a:t>
            </a:r>
            <a:r>
              <a:rPr sz="2450" spc="13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role-</a:t>
            </a:r>
            <a:r>
              <a:rPr sz="2450" spc="-10" dirty="0">
                <a:latin typeface="Calibri"/>
                <a:cs typeface="Calibri"/>
              </a:rPr>
              <a:t>based </a:t>
            </a:r>
            <a:r>
              <a:rPr sz="2450" dirty="0">
                <a:latin typeface="Calibri"/>
                <a:cs typeface="Calibri"/>
              </a:rPr>
              <a:t>access</a:t>
            </a:r>
            <a:r>
              <a:rPr sz="2450" spc="4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system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distinguishes</a:t>
            </a:r>
            <a:r>
              <a:rPr sz="2450" spc="6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Administrators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from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standard </a:t>
            </a:r>
            <a:r>
              <a:rPr sz="2450" dirty="0">
                <a:latin typeface="Calibri"/>
                <a:cs typeface="Calibri"/>
              </a:rPr>
              <a:t>users</a:t>
            </a:r>
            <a:r>
              <a:rPr sz="2450" spc="6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such</a:t>
            </a:r>
            <a:r>
              <a:rPr sz="2450" spc="4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as</a:t>
            </a:r>
            <a:r>
              <a:rPr sz="2450" spc="7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Pharmacists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and</a:t>
            </a:r>
            <a:r>
              <a:rPr sz="2450" spc="4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Store</a:t>
            </a:r>
            <a:r>
              <a:rPr sz="2450" spc="10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Managers.</a:t>
            </a:r>
            <a:r>
              <a:rPr sz="2450" spc="45" dirty="0">
                <a:latin typeface="Calibri"/>
                <a:cs typeface="Calibri"/>
              </a:rPr>
              <a:t> </a:t>
            </a:r>
            <a:r>
              <a:rPr sz="2450" spc="-25" dirty="0">
                <a:latin typeface="Calibri"/>
                <a:cs typeface="Calibri"/>
              </a:rPr>
              <a:t>An </a:t>
            </a:r>
            <a:r>
              <a:rPr sz="2450" dirty="0">
                <a:latin typeface="Calibri"/>
                <a:cs typeface="Calibri"/>
              </a:rPr>
              <a:t>integrated</a:t>
            </a:r>
            <a:r>
              <a:rPr sz="2450" spc="7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Chart.js</a:t>
            </a:r>
            <a:r>
              <a:rPr sz="2450" spc="4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analytics</a:t>
            </a:r>
            <a:r>
              <a:rPr sz="2450" spc="3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module</a:t>
            </a:r>
            <a:r>
              <a:rPr sz="2450" spc="7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visualizes</a:t>
            </a:r>
            <a:r>
              <a:rPr sz="2450" spc="3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stock</a:t>
            </a:r>
            <a:r>
              <a:rPr sz="2450" spc="105" dirty="0">
                <a:latin typeface="Calibri"/>
                <a:cs typeface="Calibri"/>
              </a:rPr>
              <a:t> </a:t>
            </a:r>
            <a:r>
              <a:rPr sz="2450" spc="-25" dirty="0">
                <a:latin typeface="Calibri"/>
                <a:cs typeface="Calibri"/>
              </a:rPr>
              <a:t>and </a:t>
            </a:r>
            <a:r>
              <a:rPr sz="2450" dirty="0">
                <a:latin typeface="Calibri"/>
                <a:cs typeface="Calibri"/>
              </a:rPr>
              <a:t>dispensing</a:t>
            </a:r>
            <a:r>
              <a:rPr sz="2450" spc="6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trends,</a:t>
            </a:r>
            <a:r>
              <a:rPr sz="2450" spc="9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with</a:t>
            </a:r>
            <a:r>
              <a:rPr sz="2450" spc="7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CSV</a:t>
            </a:r>
            <a:r>
              <a:rPr sz="2450" spc="4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and</a:t>
            </a:r>
            <a:r>
              <a:rPr sz="2450" spc="7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PDF</a:t>
            </a:r>
            <a:r>
              <a:rPr sz="2450" spc="8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export</a:t>
            </a:r>
            <a:r>
              <a:rPr sz="2450" spc="10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support.</a:t>
            </a:r>
            <a:r>
              <a:rPr sz="2450" spc="65" dirty="0">
                <a:latin typeface="Calibri"/>
                <a:cs typeface="Calibri"/>
              </a:rPr>
              <a:t> </a:t>
            </a:r>
            <a:r>
              <a:rPr sz="2450" spc="-25" dirty="0">
                <a:latin typeface="Calibri"/>
                <a:cs typeface="Calibri"/>
              </a:rPr>
              <a:t>The </a:t>
            </a:r>
            <a:r>
              <a:rPr sz="2450" dirty="0">
                <a:latin typeface="Calibri"/>
                <a:cs typeface="Calibri"/>
              </a:rPr>
              <a:t>system</a:t>
            </a:r>
            <a:r>
              <a:rPr sz="2450" spc="10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aims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to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improve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accuracy</a:t>
            </a:r>
            <a:r>
              <a:rPr sz="2450" spc="5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and</a:t>
            </a:r>
            <a:r>
              <a:rPr sz="2450" spc="3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efficiency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spc="-25" dirty="0">
                <a:latin typeface="Calibri"/>
                <a:cs typeface="Calibri"/>
              </a:rPr>
              <a:t>in</a:t>
            </a:r>
            <a:r>
              <a:rPr sz="2450" spc="6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pharmacy</a:t>
            </a:r>
            <a:r>
              <a:rPr sz="2450" spc="12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operations.</a:t>
            </a:r>
            <a:endParaRPr sz="245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852" y="328283"/>
            <a:ext cx="1374329" cy="4255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3606" rIns="0" bIns="0" rtlCol="0">
            <a:spAutoFit/>
          </a:bodyPr>
          <a:lstStyle/>
          <a:p>
            <a:pPr marL="1224280">
              <a:lnSpc>
                <a:spcPct val="100000"/>
              </a:lnSpc>
              <a:spcBef>
                <a:spcPts val="130"/>
              </a:spcBef>
            </a:pPr>
            <a:r>
              <a:rPr dirty="0"/>
              <a:t>Problem</a:t>
            </a:r>
            <a:r>
              <a:rPr spc="55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575" y="1549399"/>
            <a:ext cx="7990840" cy="3761104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355600" marR="5080" indent="-343535">
              <a:lnSpc>
                <a:spcPct val="81700"/>
              </a:lnSpc>
              <a:spcBef>
                <a:spcPts val="665"/>
              </a:spcBef>
              <a:buFont typeface="Arial MT"/>
              <a:buChar char="•"/>
              <a:tabLst>
                <a:tab pos="355600" algn="l"/>
              </a:tabLst>
            </a:pPr>
            <a:r>
              <a:rPr sz="2450" dirty="0">
                <a:latin typeface="Calibri"/>
                <a:cs typeface="Calibri"/>
              </a:rPr>
              <a:t>Pharmacies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that</a:t>
            </a:r>
            <a:r>
              <a:rPr sz="2450" spc="8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rely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on</a:t>
            </a:r>
            <a:r>
              <a:rPr sz="2450" spc="6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manual</a:t>
            </a:r>
            <a:r>
              <a:rPr sz="2450" spc="1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inventory</a:t>
            </a:r>
            <a:r>
              <a:rPr sz="2450" spc="9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management </a:t>
            </a:r>
            <a:r>
              <a:rPr sz="2450" dirty="0">
                <a:latin typeface="Calibri"/>
                <a:cs typeface="Calibri"/>
              </a:rPr>
              <a:t>face</a:t>
            </a:r>
            <a:r>
              <a:rPr sz="2450" spc="7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challenges</a:t>
            </a:r>
            <a:r>
              <a:rPr sz="2450" spc="1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such</a:t>
            </a:r>
            <a:r>
              <a:rPr sz="2450" spc="7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as</a:t>
            </a:r>
            <a:r>
              <a:rPr sz="2450" spc="1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stock-outs,</a:t>
            </a:r>
            <a:r>
              <a:rPr sz="2450" spc="9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medicine</a:t>
            </a:r>
            <a:r>
              <a:rPr sz="2450" spc="7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expiry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losses, </a:t>
            </a:r>
            <a:r>
              <a:rPr sz="2450" dirty="0">
                <a:latin typeface="Calibri"/>
                <a:cs typeface="Calibri"/>
              </a:rPr>
              <a:t>inaccurate</a:t>
            </a:r>
            <a:r>
              <a:rPr sz="2450" spc="1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dispensing</a:t>
            </a:r>
            <a:r>
              <a:rPr sz="2450" spc="3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records,</a:t>
            </a:r>
            <a:r>
              <a:rPr sz="2450" spc="5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and</a:t>
            </a:r>
            <a:r>
              <a:rPr sz="2450" spc="4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delayed</a:t>
            </a:r>
            <a:r>
              <a:rPr sz="2450" spc="4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supplier </a:t>
            </a:r>
            <a:r>
              <a:rPr sz="2450" dirty="0">
                <a:latin typeface="Calibri"/>
                <a:cs typeface="Calibri"/>
              </a:rPr>
              <a:t>reorders.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The</a:t>
            </a:r>
            <a:r>
              <a:rPr sz="2450" spc="8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absence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of</a:t>
            </a:r>
            <a:r>
              <a:rPr sz="2450" spc="4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centralized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system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makes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spc="-25" dirty="0">
                <a:latin typeface="Calibri"/>
                <a:cs typeface="Calibri"/>
              </a:rPr>
              <a:t>it </a:t>
            </a:r>
            <a:r>
              <a:rPr sz="2450" dirty="0">
                <a:latin typeface="Calibri"/>
                <a:cs typeface="Calibri"/>
              </a:rPr>
              <a:t>difficult</a:t>
            </a:r>
            <a:r>
              <a:rPr sz="2450" spc="9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to</a:t>
            </a:r>
            <a:r>
              <a:rPr sz="2450" spc="5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monitor</a:t>
            </a:r>
            <a:r>
              <a:rPr sz="2450" spc="13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real-time</a:t>
            </a:r>
            <a:r>
              <a:rPr sz="2450" spc="6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stock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levels, track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expiry </a:t>
            </a:r>
            <a:r>
              <a:rPr sz="2450" dirty="0">
                <a:latin typeface="Calibri"/>
                <a:cs typeface="Calibri"/>
              </a:rPr>
              <a:t>dates,</a:t>
            </a:r>
            <a:r>
              <a:rPr sz="2450" spc="7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and</a:t>
            </a:r>
            <a:r>
              <a:rPr sz="2450" spc="5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maintain</a:t>
            </a:r>
            <a:r>
              <a:rPr sz="2450" spc="5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proper</a:t>
            </a:r>
            <a:r>
              <a:rPr sz="2450" spc="4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dispensing</a:t>
            </a:r>
            <a:r>
              <a:rPr sz="2450" spc="1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logs,</a:t>
            </a:r>
            <a:r>
              <a:rPr sz="2450" spc="7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leading</a:t>
            </a:r>
            <a:r>
              <a:rPr sz="2450" spc="35" dirty="0">
                <a:latin typeface="Calibri"/>
                <a:cs typeface="Calibri"/>
              </a:rPr>
              <a:t> </a:t>
            </a:r>
            <a:r>
              <a:rPr sz="2450" spc="-25" dirty="0">
                <a:latin typeface="Calibri"/>
                <a:cs typeface="Calibri"/>
              </a:rPr>
              <a:t>to </a:t>
            </a:r>
            <a:r>
              <a:rPr sz="2450" dirty="0">
                <a:latin typeface="Calibri"/>
                <a:cs typeface="Calibri"/>
              </a:rPr>
              <a:t>operational</a:t>
            </a:r>
            <a:r>
              <a:rPr sz="2450" spc="3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inefficiencies</a:t>
            </a:r>
            <a:r>
              <a:rPr sz="2450" spc="9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and</a:t>
            </a:r>
            <a:r>
              <a:rPr sz="2450" spc="6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potential</a:t>
            </a:r>
            <a:r>
              <a:rPr sz="2450" spc="4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patient safety</a:t>
            </a:r>
            <a:r>
              <a:rPr sz="2450" spc="8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risks. </a:t>
            </a:r>
            <a:r>
              <a:rPr sz="2450" dirty="0">
                <a:latin typeface="Calibri"/>
                <a:cs typeface="Calibri"/>
              </a:rPr>
              <a:t>There</a:t>
            </a:r>
            <a:r>
              <a:rPr sz="2450" spc="6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is</a:t>
            </a:r>
            <a:r>
              <a:rPr sz="2450" spc="10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need</a:t>
            </a:r>
            <a:r>
              <a:rPr sz="2450" spc="6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for</a:t>
            </a:r>
            <a:r>
              <a:rPr sz="2450" spc="5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an</a:t>
            </a:r>
            <a:r>
              <a:rPr sz="2450" spc="6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automated,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role-based</a:t>
            </a:r>
            <a:r>
              <a:rPr sz="2450" spc="6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pharmacy </a:t>
            </a:r>
            <a:r>
              <a:rPr sz="2450" dirty="0">
                <a:latin typeface="Calibri"/>
                <a:cs typeface="Calibri"/>
              </a:rPr>
              <a:t>inventory</a:t>
            </a:r>
            <a:r>
              <a:rPr sz="2450" spc="3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system</a:t>
            </a:r>
            <a:r>
              <a:rPr sz="2450" spc="8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that</a:t>
            </a:r>
            <a:r>
              <a:rPr sz="2450" spc="3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can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track</a:t>
            </a:r>
            <a:r>
              <a:rPr sz="2450" spc="-3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stock</a:t>
            </a:r>
            <a:r>
              <a:rPr sz="2450" spc="-4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in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real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time,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generate </a:t>
            </a:r>
            <a:r>
              <a:rPr sz="2450" dirty="0">
                <a:latin typeface="Calibri"/>
                <a:cs typeface="Calibri"/>
              </a:rPr>
              <a:t>expiry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and</a:t>
            </a:r>
            <a:r>
              <a:rPr sz="2450" spc="6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low-stock</a:t>
            </a:r>
            <a:r>
              <a:rPr sz="2450" spc="9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alerts,</a:t>
            </a:r>
            <a:r>
              <a:rPr sz="2450" spc="7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manage</a:t>
            </a:r>
            <a:r>
              <a:rPr sz="2450" spc="13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supplier</a:t>
            </a:r>
            <a:r>
              <a:rPr sz="2450" spc="4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orders,</a:t>
            </a:r>
            <a:r>
              <a:rPr sz="2450" spc="75" dirty="0">
                <a:latin typeface="Calibri"/>
                <a:cs typeface="Calibri"/>
              </a:rPr>
              <a:t> </a:t>
            </a:r>
            <a:r>
              <a:rPr sz="2450" spc="-25" dirty="0">
                <a:latin typeface="Calibri"/>
                <a:cs typeface="Calibri"/>
              </a:rPr>
              <a:t>log </a:t>
            </a:r>
            <a:r>
              <a:rPr sz="2450" dirty="0">
                <a:latin typeface="Calibri"/>
                <a:cs typeface="Calibri"/>
              </a:rPr>
              <a:t>dispense</a:t>
            </a:r>
            <a:r>
              <a:rPr sz="2450" spc="6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records,</a:t>
            </a:r>
            <a:r>
              <a:rPr sz="2450" spc="7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and</a:t>
            </a:r>
            <a:r>
              <a:rPr sz="2450" spc="5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provide</a:t>
            </a:r>
            <a:r>
              <a:rPr sz="2450" spc="13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analytical</a:t>
            </a:r>
            <a:r>
              <a:rPr sz="2450" spc="4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insights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to</a:t>
            </a:r>
            <a:r>
              <a:rPr sz="2450" spc="4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support </a:t>
            </a:r>
            <a:r>
              <a:rPr sz="2450" dirty="0">
                <a:latin typeface="Calibri"/>
                <a:cs typeface="Calibri"/>
              </a:rPr>
              <a:t>better</a:t>
            </a:r>
            <a:r>
              <a:rPr sz="2450" spc="9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decision-making</a:t>
            </a:r>
            <a:r>
              <a:rPr sz="2450" spc="9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in</a:t>
            </a:r>
            <a:r>
              <a:rPr sz="2450" spc="10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pharmacy</a:t>
            </a:r>
            <a:r>
              <a:rPr sz="2450" spc="14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operations.</a:t>
            </a:r>
            <a:endParaRPr sz="24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260" y="328283"/>
            <a:ext cx="1301996" cy="4255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8660" rIns="0" bIns="0" rtlCol="0">
            <a:spAutoFit/>
          </a:bodyPr>
          <a:lstStyle/>
          <a:p>
            <a:pPr marL="1003935">
              <a:lnSpc>
                <a:spcPct val="100000"/>
              </a:lnSpc>
              <a:spcBef>
                <a:spcPts val="130"/>
              </a:spcBef>
            </a:pPr>
            <a:r>
              <a:rPr dirty="0"/>
              <a:t>Project</a:t>
            </a:r>
            <a:r>
              <a:rPr spc="70" dirty="0"/>
              <a:t> </a:t>
            </a:r>
            <a:r>
              <a:rPr dirty="0"/>
              <a:t>Flow</a:t>
            </a:r>
            <a:r>
              <a:rPr spc="105" dirty="0"/>
              <a:t> </a:t>
            </a:r>
            <a:r>
              <a:rPr spc="-10" dirty="0"/>
              <a:t>Diagram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852" y="261608"/>
            <a:ext cx="1374329" cy="42556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1143000"/>
            <a:ext cx="8686800" cy="5105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3606" rIns="0" bIns="0" rtlCol="0">
            <a:spAutoFit/>
          </a:bodyPr>
          <a:lstStyle/>
          <a:p>
            <a:pPr marL="944244">
              <a:lnSpc>
                <a:spcPct val="100000"/>
              </a:lnSpc>
              <a:spcBef>
                <a:spcPts val="130"/>
              </a:spcBef>
            </a:pPr>
            <a:r>
              <a:rPr dirty="0"/>
              <a:t>Objectives</a:t>
            </a:r>
            <a:r>
              <a:rPr spc="125" dirty="0"/>
              <a:t> </a:t>
            </a:r>
            <a:r>
              <a:rPr dirty="0"/>
              <a:t>with</a:t>
            </a:r>
            <a:r>
              <a:rPr spc="120" dirty="0"/>
              <a:t> </a:t>
            </a:r>
            <a:r>
              <a:rPr spc="-10" dirty="0"/>
              <a:t>Justification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575" y="1235011"/>
            <a:ext cx="7997825" cy="464375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55600" marR="5080" indent="-343535">
              <a:lnSpc>
                <a:spcPct val="80300"/>
              </a:lnSpc>
              <a:spcBef>
                <a:spcPts val="740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b="1" dirty="0">
                <a:latin typeface="Calibri"/>
                <a:cs typeface="Calibri"/>
              </a:rPr>
              <a:t>1.</a:t>
            </a:r>
            <a:r>
              <a:rPr sz="2700" b="1" spc="-15" dirty="0">
                <a:latin typeface="Calibri"/>
                <a:cs typeface="Calibri"/>
              </a:rPr>
              <a:t> </a:t>
            </a:r>
            <a:r>
              <a:rPr sz="2700" b="1" spc="-25" dirty="0">
                <a:latin typeface="Calibri"/>
                <a:cs typeface="Calibri"/>
              </a:rPr>
              <a:t>Real-</a:t>
            </a:r>
            <a:r>
              <a:rPr sz="2700" b="1" dirty="0">
                <a:latin typeface="Calibri"/>
                <a:cs typeface="Calibri"/>
              </a:rPr>
              <a:t>Time</a:t>
            </a:r>
            <a:r>
              <a:rPr sz="2700" b="1" spc="-4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Stock</a:t>
            </a:r>
            <a:r>
              <a:rPr sz="2700" b="1" spc="-6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Monitoring</a:t>
            </a:r>
            <a:r>
              <a:rPr sz="2700" b="1" spc="-5" dirty="0">
                <a:latin typeface="Calibri"/>
                <a:cs typeface="Calibri"/>
              </a:rPr>
              <a:t> </a:t>
            </a:r>
            <a:r>
              <a:rPr sz="2700" spc="-125" dirty="0">
                <a:latin typeface="Calibri"/>
                <a:cs typeface="Calibri"/>
              </a:rPr>
              <a:t>To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track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current </a:t>
            </a:r>
            <a:r>
              <a:rPr sz="2700" dirty="0">
                <a:latin typeface="Calibri"/>
                <a:cs typeface="Calibri"/>
              </a:rPr>
              <a:t>medicine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quantity</a:t>
            </a:r>
            <a:r>
              <a:rPr sz="2700" spc="-9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status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(In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Stock,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Low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Stock,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Out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Stock),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preventing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stock-</a:t>
            </a:r>
            <a:r>
              <a:rPr sz="2700" dirty="0">
                <a:latin typeface="Calibri"/>
                <a:cs typeface="Calibri"/>
              </a:rPr>
              <a:t>outs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ensuring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medicine </a:t>
            </a:r>
            <a:r>
              <a:rPr sz="2700" dirty="0">
                <a:latin typeface="Calibri"/>
                <a:cs typeface="Calibri"/>
              </a:rPr>
              <a:t>availability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at</a:t>
            </a:r>
            <a:r>
              <a:rPr sz="2700" spc="-10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all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times.</a:t>
            </a:r>
            <a:endParaRPr sz="2700">
              <a:latin typeface="Calibri"/>
              <a:cs typeface="Calibri"/>
            </a:endParaRPr>
          </a:p>
          <a:p>
            <a:pPr marL="355600" marR="800100" indent="-343535" algn="just">
              <a:lnSpc>
                <a:spcPct val="80000"/>
              </a:lnSpc>
              <a:spcBef>
                <a:spcPts val="635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b="1" dirty="0">
                <a:latin typeface="Calibri"/>
                <a:cs typeface="Calibri"/>
              </a:rPr>
              <a:t>2.</a:t>
            </a:r>
            <a:r>
              <a:rPr sz="2700" b="1" spc="-6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Expiry</a:t>
            </a:r>
            <a:r>
              <a:rPr sz="2700" b="1" spc="-5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Date</a:t>
            </a:r>
            <a:r>
              <a:rPr sz="2700" b="1" spc="-6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Alerts </a:t>
            </a:r>
            <a:r>
              <a:rPr sz="2700" spc="-135" dirty="0">
                <a:latin typeface="Calibri"/>
                <a:cs typeface="Calibri"/>
              </a:rPr>
              <a:t>To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automatically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notify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staff </a:t>
            </a:r>
            <a:r>
              <a:rPr sz="2700" dirty="0">
                <a:latin typeface="Calibri"/>
                <a:cs typeface="Calibri"/>
              </a:rPr>
              <a:t>about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medicines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nearing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or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past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expiry,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reducing wastage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ensuring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patient</a:t>
            </a:r>
            <a:r>
              <a:rPr sz="2700" spc="-8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safety.</a:t>
            </a:r>
            <a:endParaRPr sz="2700">
              <a:latin typeface="Calibri"/>
              <a:cs typeface="Calibri"/>
            </a:endParaRPr>
          </a:p>
          <a:p>
            <a:pPr marL="355600" marR="326390" indent="-343535">
              <a:lnSpc>
                <a:spcPct val="80000"/>
              </a:lnSpc>
              <a:spcBef>
                <a:spcPts val="640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b="1" dirty="0">
                <a:latin typeface="Calibri"/>
                <a:cs typeface="Calibri"/>
              </a:rPr>
              <a:t>3.</a:t>
            </a:r>
            <a:r>
              <a:rPr sz="2700" b="1" spc="-14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Supplier</a:t>
            </a:r>
            <a:r>
              <a:rPr sz="2700" b="1" spc="-7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Order</a:t>
            </a:r>
            <a:r>
              <a:rPr sz="2700" b="1" spc="-7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Management</a:t>
            </a:r>
            <a:r>
              <a:rPr sz="2700" b="1" spc="-45" dirty="0">
                <a:latin typeface="Calibri"/>
                <a:cs typeface="Calibri"/>
              </a:rPr>
              <a:t> </a:t>
            </a:r>
            <a:r>
              <a:rPr sz="2700" spc="-140" dirty="0">
                <a:latin typeface="Calibri"/>
                <a:cs typeface="Calibri"/>
              </a:rPr>
              <a:t>To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streamline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the </a:t>
            </a:r>
            <a:r>
              <a:rPr sz="2700" dirty="0">
                <a:latin typeface="Calibri"/>
                <a:cs typeface="Calibri"/>
              </a:rPr>
              <a:t>reordering</a:t>
            </a:r>
            <a:r>
              <a:rPr sz="2700" spc="-9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process</a:t>
            </a:r>
            <a:r>
              <a:rPr sz="2700" spc="-9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when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stock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falls</a:t>
            </a:r>
            <a:r>
              <a:rPr sz="2700" spc="-9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below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threshold, </a:t>
            </a:r>
            <a:r>
              <a:rPr sz="2700" dirty="0">
                <a:latin typeface="Calibri"/>
                <a:cs typeface="Calibri"/>
              </a:rPr>
              <a:t>ensuring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timely</a:t>
            </a:r>
            <a:r>
              <a:rPr sz="2700" spc="-8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replenishment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from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suppliers.</a:t>
            </a:r>
            <a:endParaRPr sz="2700">
              <a:latin typeface="Calibri"/>
              <a:cs typeface="Calibri"/>
            </a:endParaRPr>
          </a:p>
          <a:p>
            <a:pPr marL="355600" marR="444500" indent="-343535">
              <a:lnSpc>
                <a:spcPct val="811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b="1" dirty="0">
                <a:latin typeface="Calibri"/>
                <a:cs typeface="Calibri"/>
              </a:rPr>
              <a:t>4.</a:t>
            </a:r>
            <a:r>
              <a:rPr sz="2700" b="1" spc="-9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Dispense</a:t>
            </a:r>
            <a:r>
              <a:rPr sz="2700" b="1" spc="-7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Log</a:t>
            </a:r>
            <a:r>
              <a:rPr sz="2700" b="1" spc="-7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Maintenance</a:t>
            </a:r>
            <a:r>
              <a:rPr sz="2700" b="1" spc="-15" dirty="0">
                <a:latin typeface="Calibri"/>
                <a:cs typeface="Calibri"/>
              </a:rPr>
              <a:t> </a:t>
            </a:r>
            <a:r>
              <a:rPr sz="2700" spc="-140" dirty="0">
                <a:latin typeface="Calibri"/>
                <a:cs typeface="Calibri"/>
              </a:rPr>
              <a:t>To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record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every </a:t>
            </a:r>
            <a:r>
              <a:rPr sz="2700" dirty="0">
                <a:latin typeface="Calibri"/>
                <a:cs typeface="Calibri"/>
              </a:rPr>
              <a:t>medicine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dispensed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with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customer</a:t>
            </a:r>
            <a:r>
              <a:rPr sz="2700" spc="-10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prescription </a:t>
            </a:r>
            <a:r>
              <a:rPr sz="2700" dirty="0">
                <a:latin typeface="Calibri"/>
                <a:cs typeface="Calibri"/>
              </a:rPr>
              <a:t>details,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ensuring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accountability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audit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readiness.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668" y="340743"/>
            <a:ext cx="1229663" cy="4787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9346" rIns="0" bIns="0" rtlCol="0">
            <a:spAutoFit/>
          </a:bodyPr>
          <a:lstStyle/>
          <a:p>
            <a:pPr marL="954405">
              <a:lnSpc>
                <a:spcPct val="100000"/>
              </a:lnSpc>
              <a:spcBef>
                <a:spcPts val="130"/>
              </a:spcBef>
            </a:pPr>
            <a:r>
              <a:rPr dirty="0"/>
              <a:t>Modules</a:t>
            </a:r>
            <a:r>
              <a:rPr spc="90" dirty="0"/>
              <a:t> </a:t>
            </a:r>
            <a:r>
              <a:rPr dirty="0"/>
              <a:t>[Frontend</a:t>
            </a:r>
            <a:r>
              <a:rPr spc="90" dirty="0"/>
              <a:t> </a:t>
            </a:r>
            <a:r>
              <a:rPr dirty="0"/>
              <a:t>web</a:t>
            </a:r>
            <a:r>
              <a:rPr spc="90" dirty="0"/>
              <a:t> </a:t>
            </a:r>
            <a:r>
              <a:rPr spc="-10" dirty="0"/>
              <a:t>pages]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575" y="1559242"/>
            <a:ext cx="8044180" cy="404876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355600" marR="66040" indent="-343535">
              <a:lnSpc>
                <a:spcPts val="2100"/>
              </a:lnSpc>
              <a:spcBef>
                <a:spcPts val="59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b="1" dirty="0">
                <a:latin typeface="Calibri"/>
                <a:cs typeface="Calibri"/>
              </a:rPr>
              <a:t>1.</a:t>
            </a:r>
            <a:r>
              <a:rPr sz="2150" b="1" spc="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Home</a:t>
            </a:r>
            <a:r>
              <a:rPr sz="2150" b="1" spc="2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Page</a:t>
            </a:r>
            <a:r>
              <a:rPr sz="2150" b="1" spc="10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Module</a:t>
            </a:r>
            <a:r>
              <a:rPr sz="2150" b="1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landing</a:t>
            </a:r>
            <a:r>
              <a:rPr sz="2150" spc="10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page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displays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1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system's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key </a:t>
            </a:r>
            <a:r>
              <a:rPr sz="2150" dirty="0">
                <a:latin typeface="Calibri"/>
                <a:cs typeface="Calibri"/>
              </a:rPr>
              <a:t>features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provides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access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to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Login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Sign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Up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options.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It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serves </a:t>
            </a:r>
            <a:r>
              <a:rPr sz="2150" dirty="0">
                <a:latin typeface="Calibri"/>
                <a:cs typeface="Calibri"/>
              </a:rPr>
              <a:t>as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entry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point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for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all</a:t>
            </a:r>
            <a:r>
              <a:rPr sz="2150" spc="-10" dirty="0">
                <a:latin typeface="Calibri"/>
                <a:cs typeface="Calibri"/>
              </a:rPr>
              <a:t> users.</a:t>
            </a:r>
            <a:endParaRPr sz="2150">
              <a:latin typeface="Calibri"/>
              <a:cs typeface="Calibri"/>
            </a:endParaRPr>
          </a:p>
          <a:p>
            <a:pPr marL="355600" marR="163195" indent="-343535">
              <a:lnSpc>
                <a:spcPts val="2100"/>
              </a:lnSpc>
              <a:spcBef>
                <a:spcPts val="61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b="1" dirty="0">
                <a:latin typeface="Calibri"/>
                <a:cs typeface="Calibri"/>
              </a:rPr>
              <a:t>2.</a:t>
            </a:r>
            <a:r>
              <a:rPr sz="2150" b="1" spc="5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Authentication</a:t>
            </a:r>
            <a:r>
              <a:rPr sz="2150" b="1" spc="6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Module</a:t>
            </a:r>
            <a:r>
              <a:rPr sz="2150" b="1" spc="1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Handles</a:t>
            </a:r>
            <a:r>
              <a:rPr sz="2150" spc="1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user</a:t>
            </a:r>
            <a:r>
              <a:rPr sz="2150" spc="1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Login,</a:t>
            </a:r>
            <a:r>
              <a:rPr sz="2150" spc="9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Sign</a:t>
            </a:r>
            <a:r>
              <a:rPr sz="2150" spc="10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Up,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and </a:t>
            </a:r>
            <a:r>
              <a:rPr sz="2150" dirty="0">
                <a:latin typeface="Calibri"/>
                <a:cs typeface="Calibri"/>
              </a:rPr>
              <a:t>Password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Reset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functionalities.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Validates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credentials,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assigns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roles,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routes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users</a:t>
            </a:r>
            <a:r>
              <a:rPr sz="2150" spc="10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to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their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respective</a:t>
            </a:r>
            <a:r>
              <a:rPr sz="2150" spc="10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dashboards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based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on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their </a:t>
            </a:r>
            <a:r>
              <a:rPr sz="2150" dirty="0">
                <a:latin typeface="Calibri"/>
                <a:cs typeface="Calibri"/>
              </a:rPr>
              <a:t>access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level.</a:t>
            </a:r>
            <a:endParaRPr sz="2150">
              <a:latin typeface="Calibri"/>
              <a:cs typeface="Calibri"/>
            </a:endParaRPr>
          </a:p>
          <a:p>
            <a:pPr marL="355600" marR="65405" indent="-343535">
              <a:lnSpc>
                <a:spcPct val="82500"/>
              </a:lnSpc>
              <a:spcBef>
                <a:spcPts val="52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b="1" dirty="0">
                <a:latin typeface="Calibri"/>
                <a:cs typeface="Calibri"/>
              </a:rPr>
              <a:t>3.</a:t>
            </a:r>
            <a:r>
              <a:rPr sz="2150" b="1" spc="3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Stock</a:t>
            </a:r>
            <a:r>
              <a:rPr sz="2150" b="1" spc="10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Management</a:t>
            </a:r>
            <a:r>
              <a:rPr sz="2150" b="1" spc="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Module</a:t>
            </a:r>
            <a:r>
              <a:rPr sz="2150" b="1" spc="1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Allows</a:t>
            </a:r>
            <a:r>
              <a:rPr sz="2150" spc="1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administrators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to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add,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edit,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delete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medicine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records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including</a:t>
            </a:r>
            <a:r>
              <a:rPr sz="2150" spc="1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barcode,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name,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category, </a:t>
            </a:r>
            <a:r>
              <a:rPr sz="2150" dirty="0">
                <a:latin typeface="Calibri"/>
                <a:cs typeface="Calibri"/>
              </a:rPr>
              <a:t>quantity,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price,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threshold,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expiry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date,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supplier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details.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Displays </a:t>
            </a:r>
            <a:r>
              <a:rPr sz="2150" dirty="0">
                <a:latin typeface="Calibri"/>
                <a:cs typeface="Calibri"/>
              </a:rPr>
              <a:t>real-time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stock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status</a:t>
            </a:r>
            <a:r>
              <a:rPr sz="2150" spc="10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badges.</a:t>
            </a:r>
            <a:endParaRPr sz="2150">
              <a:latin typeface="Calibri"/>
              <a:cs typeface="Calibri"/>
            </a:endParaRPr>
          </a:p>
          <a:p>
            <a:pPr marL="355600" marR="5080" indent="-343535">
              <a:lnSpc>
                <a:spcPts val="2100"/>
              </a:lnSpc>
              <a:spcBef>
                <a:spcPts val="52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b="1" dirty="0">
                <a:latin typeface="Calibri"/>
                <a:cs typeface="Calibri"/>
              </a:rPr>
              <a:t>4.</a:t>
            </a:r>
            <a:r>
              <a:rPr sz="2150" b="1" spc="4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Expiry</a:t>
            </a:r>
            <a:r>
              <a:rPr sz="2150" b="1" spc="4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Tracking</a:t>
            </a:r>
            <a:r>
              <a:rPr sz="2150" b="1" spc="4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Module</a:t>
            </a:r>
            <a:r>
              <a:rPr sz="2150" b="1" spc="1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Lists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all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medicines</a:t>
            </a:r>
            <a:r>
              <a:rPr sz="2150" spc="1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with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their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expiry</a:t>
            </a:r>
            <a:r>
              <a:rPr sz="2150" spc="9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dates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remaining</a:t>
            </a:r>
            <a:r>
              <a:rPr sz="2150" spc="114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days.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Highlights</a:t>
            </a:r>
            <a:r>
              <a:rPr sz="2150" spc="1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expired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soon-to-</a:t>
            </a:r>
            <a:r>
              <a:rPr sz="2150" spc="-10" dirty="0">
                <a:latin typeface="Calibri"/>
                <a:cs typeface="Calibri"/>
              </a:rPr>
              <a:t>expire </a:t>
            </a:r>
            <a:r>
              <a:rPr sz="2150" dirty="0">
                <a:latin typeface="Calibri"/>
                <a:cs typeface="Calibri"/>
              </a:rPr>
              <a:t>medicines,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enabling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timely</a:t>
            </a:r>
            <a:r>
              <a:rPr sz="2150" spc="114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action</a:t>
            </a:r>
            <a:r>
              <a:rPr sz="2150" spc="10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by</a:t>
            </a:r>
            <a:r>
              <a:rPr sz="2150" spc="114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pharmacy</a:t>
            </a:r>
            <a:r>
              <a:rPr sz="2150" spc="114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staff.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668" y="199605"/>
            <a:ext cx="1229663" cy="4455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Expected</a:t>
            </a:r>
            <a:r>
              <a:rPr spc="150" dirty="0"/>
              <a:t> </a:t>
            </a:r>
            <a:r>
              <a:rPr dirty="0"/>
              <a:t>Outcomes</a:t>
            </a:r>
            <a:r>
              <a:rPr spc="80" dirty="0"/>
              <a:t> </a:t>
            </a:r>
            <a:r>
              <a:rPr dirty="0"/>
              <a:t>of</a:t>
            </a:r>
            <a:r>
              <a:rPr spc="90" dirty="0"/>
              <a:t> </a:t>
            </a:r>
            <a:r>
              <a:rPr dirty="0"/>
              <a:t>the</a:t>
            </a:r>
            <a:r>
              <a:rPr spc="80" dirty="0"/>
              <a:t> </a:t>
            </a:r>
            <a:r>
              <a:rPr dirty="0"/>
              <a:t>Proposed</a:t>
            </a:r>
            <a:r>
              <a:rPr spc="-15" dirty="0"/>
              <a:t> </a:t>
            </a:r>
            <a:r>
              <a:rPr spc="-20" dirty="0"/>
              <a:t>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575" y="1101407"/>
            <a:ext cx="7829550" cy="459232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355600" marR="116839" indent="-343535">
              <a:lnSpc>
                <a:spcPct val="825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b="1" dirty="0">
                <a:latin typeface="Calibri"/>
                <a:cs typeface="Calibri"/>
              </a:rPr>
              <a:t>1.</a:t>
            </a:r>
            <a:r>
              <a:rPr sz="2150" b="1" spc="2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Improved</a:t>
            </a:r>
            <a:r>
              <a:rPr sz="2150" b="1" spc="4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Stock</a:t>
            </a:r>
            <a:r>
              <a:rPr sz="2150" b="1" spc="9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Visibility</a:t>
            </a:r>
            <a:r>
              <a:rPr sz="2150" b="1" spc="1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system</a:t>
            </a:r>
            <a:r>
              <a:rPr sz="2150" spc="1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will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provide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real-</a:t>
            </a:r>
            <a:r>
              <a:rPr sz="2150" spc="-20" dirty="0">
                <a:latin typeface="Calibri"/>
                <a:cs typeface="Calibri"/>
              </a:rPr>
              <a:t>time </a:t>
            </a:r>
            <a:r>
              <a:rPr sz="2150" dirty="0">
                <a:latin typeface="Calibri"/>
                <a:cs typeface="Calibri"/>
              </a:rPr>
              <a:t>visibility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into</a:t>
            </a:r>
            <a:r>
              <a:rPr sz="2150" spc="1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medicine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stock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levels,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enabling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pharmacy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staff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to </a:t>
            </a:r>
            <a:r>
              <a:rPr sz="2150" dirty="0">
                <a:latin typeface="Calibri"/>
                <a:cs typeface="Calibri"/>
              </a:rPr>
              <a:t>instantly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identify</a:t>
            </a:r>
            <a:r>
              <a:rPr sz="2150" spc="9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in-stock,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low-stock,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out-of-stock</a:t>
            </a:r>
            <a:r>
              <a:rPr sz="2150" spc="9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medicines, </a:t>
            </a:r>
            <a:r>
              <a:rPr sz="2150" dirty="0">
                <a:latin typeface="Calibri"/>
                <a:cs typeface="Calibri"/>
              </a:rPr>
              <a:t>eliminating</a:t>
            </a:r>
            <a:r>
              <a:rPr sz="2150" spc="114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guesswork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in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inventory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management.</a:t>
            </a:r>
            <a:endParaRPr sz="2150">
              <a:latin typeface="Calibri"/>
              <a:cs typeface="Calibri"/>
            </a:endParaRPr>
          </a:p>
          <a:p>
            <a:pPr marL="355600" marR="5080" indent="-343535">
              <a:lnSpc>
                <a:spcPct val="81500"/>
              </a:lnSpc>
              <a:spcBef>
                <a:spcPts val="52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b="1" dirty="0">
                <a:latin typeface="Calibri"/>
                <a:cs typeface="Calibri"/>
              </a:rPr>
              <a:t>2.</a:t>
            </a:r>
            <a:r>
              <a:rPr sz="2150" b="1" spc="3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Reduced</a:t>
            </a:r>
            <a:r>
              <a:rPr sz="2150" b="1" spc="4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Medicine</a:t>
            </a:r>
            <a:r>
              <a:rPr sz="2150" b="1" spc="4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Wastage</a:t>
            </a:r>
            <a:r>
              <a:rPr sz="2150" b="1" spc="1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Automated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expiry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alerts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will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notify </a:t>
            </a:r>
            <a:r>
              <a:rPr sz="2150" dirty="0">
                <a:latin typeface="Calibri"/>
                <a:cs typeface="Calibri"/>
              </a:rPr>
              <a:t>staff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well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in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advance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about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medicines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nearing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expiry,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allowing </a:t>
            </a:r>
            <a:r>
              <a:rPr sz="2150" dirty="0">
                <a:latin typeface="Calibri"/>
                <a:cs typeface="Calibri"/>
              </a:rPr>
              <a:t>timely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action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significantly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reducing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medicine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wastage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and </a:t>
            </a:r>
            <a:r>
              <a:rPr sz="2150" dirty="0">
                <a:latin typeface="Calibri"/>
                <a:cs typeface="Calibri"/>
              </a:rPr>
              <a:t>financial</a:t>
            </a:r>
            <a:r>
              <a:rPr sz="2150" spc="12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losses.</a:t>
            </a:r>
            <a:endParaRPr sz="2150">
              <a:latin typeface="Calibri"/>
              <a:cs typeface="Calibri"/>
            </a:endParaRPr>
          </a:p>
          <a:p>
            <a:pPr marL="355600" marR="92075" indent="-343535">
              <a:lnSpc>
                <a:spcPct val="82500"/>
              </a:lnSpc>
              <a:spcBef>
                <a:spcPts val="50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b="1" dirty="0">
                <a:latin typeface="Calibri"/>
                <a:cs typeface="Calibri"/>
              </a:rPr>
              <a:t>3.</a:t>
            </a:r>
            <a:r>
              <a:rPr sz="2150" b="1" spc="4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Elimination</a:t>
            </a:r>
            <a:r>
              <a:rPr sz="2150" b="1" spc="6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of</a:t>
            </a:r>
            <a:r>
              <a:rPr sz="2150" b="1" spc="9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Stock-Outs</a:t>
            </a:r>
            <a:r>
              <a:rPr sz="2150" b="1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Smart</a:t>
            </a:r>
            <a:r>
              <a:rPr sz="2150" spc="1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reorder</a:t>
            </a:r>
            <a:r>
              <a:rPr sz="2150" spc="10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alerts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triggered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spc="-20" dirty="0">
                <a:latin typeface="Calibri"/>
                <a:cs typeface="Calibri"/>
              </a:rPr>
              <a:t>when </a:t>
            </a:r>
            <a:r>
              <a:rPr sz="2150" dirty="0">
                <a:latin typeface="Calibri"/>
                <a:cs typeface="Calibri"/>
              </a:rPr>
              <a:t>stock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falls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below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1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defined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threshold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will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ensure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timely </a:t>
            </a:r>
            <a:r>
              <a:rPr sz="2150" dirty="0">
                <a:latin typeface="Calibri"/>
                <a:cs typeface="Calibri"/>
              </a:rPr>
              <a:t>replenishment,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preventing</a:t>
            </a:r>
            <a:r>
              <a:rPr sz="2150" spc="1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stock-outs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ensuring</a:t>
            </a:r>
            <a:r>
              <a:rPr sz="2150" spc="13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continuous </a:t>
            </a:r>
            <a:r>
              <a:rPr sz="2150" dirty="0">
                <a:latin typeface="Calibri"/>
                <a:cs typeface="Calibri"/>
              </a:rPr>
              <a:t>medicine</a:t>
            </a:r>
            <a:r>
              <a:rPr sz="2150" spc="12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availability.</a:t>
            </a:r>
            <a:endParaRPr sz="2150">
              <a:latin typeface="Calibri"/>
              <a:cs typeface="Calibri"/>
            </a:endParaRPr>
          </a:p>
          <a:p>
            <a:pPr marL="355600" marR="473075" indent="-343535">
              <a:lnSpc>
                <a:spcPct val="82500"/>
              </a:lnSpc>
              <a:spcBef>
                <a:spcPts val="50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b="1" dirty="0">
                <a:latin typeface="Calibri"/>
                <a:cs typeface="Calibri"/>
              </a:rPr>
              <a:t>4.</a:t>
            </a:r>
            <a:r>
              <a:rPr sz="2150" b="1" spc="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Accurate</a:t>
            </a:r>
            <a:r>
              <a:rPr sz="2150" b="1" spc="10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Dispensing</a:t>
            </a:r>
            <a:r>
              <a:rPr sz="2150" b="1" spc="1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Records</a:t>
            </a:r>
            <a:r>
              <a:rPr sz="2150" b="1" spc="1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structured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dispense</a:t>
            </a:r>
            <a:r>
              <a:rPr sz="2150" spc="114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log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spc="-20" dirty="0">
                <a:latin typeface="Calibri"/>
                <a:cs typeface="Calibri"/>
              </a:rPr>
              <a:t>will </a:t>
            </a:r>
            <a:r>
              <a:rPr sz="2150" dirty="0">
                <a:latin typeface="Calibri"/>
                <a:cs typeface="Calibri"/>
              </a:rPr>
              <a:t>maintain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complete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accurate records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of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every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medicine </a:t>
            </a:r>
            <a:r>
              <a:rPr sz="2150" dirty="0">
                <a:latin typeface="Calibri"/>
                <a:cs typeface="Calibri"/>
              </a:rPr>
              <a:t>dispensed,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improving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accountability,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traceability,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audit readiness.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668" y="216738"/>
            <a:ext cx="1229663" cy="5186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3705" rIns="0" bIns="0" rtlCol="0">
            <a:spAutoFit/>
          </a:bodyPr>
          <a:lstStyle/>
          <a:p>
            <a:pPr marL="718820">
              <a:lnSpc>
                <a:spcPct val="100000"/>
              </a:lnSpc>
              <a:spcBef>
                <a:spcPts val="130"/>
              </a:spcBef>
            </a:pPr>
            <a:r>
              <a:rPr dirty="0"/>
              <a:t>Conclusion</a:t>
            </a:r>
            <a:r>
              <a:rPr spc="70" dirty="0"/>
              <a:t> </a:t>
            </a:r>
            <a:r>
              <a:rPr dirty="0"/>
              <a:t>and</a:t>
            </a:r>
            <a:r>
              <a:rPr spc="160" dirty="0"/>
              <a:t> </a:t>
            </a:r>
            <a:r>
              <a:rPr dirty="0"/>
              <a:t>Future</a:t>
            </a:r>
            <a:r>
              <a:rPr spc="100" dirty="0"/>
              <a:t> </a:t>
            </a:r>
            <a:r>
              <a:rPr spc="-10" dirty="0"/>
              <a:t>Scope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spc="-10" dirty="0"/>
              <a:t>Conclusion</a:t>
            </a:r>
            <a:endParaRPr sz="2150"/>
          </a:p>
          <a:p>
            <a:pPr marL="355600" marR="50165" indent="-343535">
              <a:lnSpc>
                <a:spcPct val="82200"/>
              </a:lnSpc>
              <a:spcBef>
                <a:spcPts val="509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b="0" dirty="0">
                <a:latin typeface="Calibri"/>
                <a:cs typeface="Calibri"/>
              </a:rPr>
              <a:t>The</a:t>
            </a:r>
            <a:r>
              <a:rPr sz="2150" b="0" spc="4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Pharmacy</a:t>
            </a:r>
            <a:r>
              <a:rPr sz="2150" b="0" spc="8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Inventory</a:t>
            </a:r>
            <a:r>
              <a:rPr sz="2150" b="0" spc="8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Management</a:t>
            </a:r>
            <a:r>
              <a:rPr sz="2150" b="0" spc="11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System</a:t>
            </a:r>
            <a:r>
              <a:rPr sz="2150" b="0" spc="80" dirty="0">
                <a:latin typeface="Calibri"/>
                <a:cs typeface="Calibri"/>
              </a:rPr>
              <a:t> </a:t>
            </a:r>
            <a:r>
              <a:rPr sz="2150" b="0" spc="-10" dirty="0">
                <a:latin typeface="Calibri"/>
                <a:cs typeface="Calibri"/>
              </a:rPr>
              <a:t>successfully </a:t>
            </a:r>
            <a:r>
              <a:rPr sz="2150" b="0" dirty="0">
                <a:latin typeface="Calibri"/>
                <a:cs typeface="Calibri"/>
              </a:rPr>
              <a:t>automates</a:t>
            </a:r>
            <a:r>
              <a:rPr sz="2150" b="0" spc="4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key</a:t>
            </a:r>
            <a:r>
              <a:rPr sz="2150" b="0" spc="7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pharmacy</a:t>
            </a:r>
            <a:r>
              <a:rPr sz="2150" b="0" spc="7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operations</a:t>
            </a:r>
            <a:r>
              <a:rPr sz="2150" b="0" spc="5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including</a:t>
            </a:r>
            <a:r>
              <a:rPr sz="2150" b="0" spc="10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stock</a:t>
            </a:r>
            <a:r>
              <a:rPr sz="2150" b="0" spc="65" dirty="0">
                <a:latin typeface="Calibri"/>
                <a:cs typeface="Calibri"/>
              </a:rPr>
              <a:t> </a:t>
            </a:r>
            <a:r>
              <a:rPr sz="2150" b="0" spc="-10" dirty="0">
                <a:latin typeface="Calibri"/>
                <a:cs typeface="Calibri"/>
              </a:rPr>
              <a:t>monitoring, </a:t>
            </a:r>
            <a:r>
              <a:rPr sz="2150" b="0" dirty="0">
                <a:latin typeface="Calibri"/>
                <a:cs typeface="Calibri"/>
              </a:rPr>
              <a:t>expiry</a:t>
            </a:r>
            <a:r>
              <a:rPr sz="2150" b="0" spc="10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tracking,</a:t>
            </a:r>
            <a:r>
              <a:rPr sz="2150" b="0" spc="10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supplier</a:t>
            </a:r>
            <a:r>
              <a:rPr sz="2150" b="0" spc="11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ordering,</a:t>
            </a:r>
            <a:r>
              <a:rPr sz="2150" b="0" spc="10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dispense</a:t>
            </a:r>
            <a:r>
              <a:rPr sz="2150" b="0" spc="8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logging,</a:t>
            </a:r>
            <a:r>
              <a:rPr sz="2150" b="0" spc="10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and</a:t>
            </a:r>
            <a:r>
              <a:rPr sz="2150" b="0" spc="10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analytics.</a:t>
            </a:r>
            <a:r>
              <a:rPr sz="2150" b="0" spc="90" dirty="0">
                <a:latin typeface="Calibri"/>
                <a:cs typeface="Calibri"/>
              </a:rPr>
              <a:t> </a:t>
            </a:r>
            <a:r>
              <a:rPr sz="2150" b="0" spc="-25" dirty="0">
                <a:latin typeface="Calibri"/>
                <a:cs typeface="Calibri"/>
              </a:rPr>
              <a:t>It </a:t>
            </a:r>
            <a:r>
              <a:rPr sz="2150" b="0" dirty="0">
                <a:latin typeface="Calibri"/>
                <a:cs typeface="Calibri"/>
              </a:rPr>
              <a:t>reduces</a:t>
            </a:r>
            <a:r>
              <a:rPr sz="2150" b="0" spc="5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manual</a:t>
            </a:r>
            <a:r>
              <a:rPr sz="2150" b="0" spc="114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errors,</a:t>
            </a:r>
            <a:r>
              <a:rPr sz="2150" b="0" spc="6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prevents</a:t>
            </a:r>
            <a:r>
              <a:rPr sz="2150" b="0" spc="6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stock-outs,</a:t>
            </a:r>
            <a:r>
              <a:rPr sz="2150" b="0" spc="7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and</a:t>
            </a:r>
            <a:r>
              <a:rPr sz="2150" b="0" spc="7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improves</a:t>
            </a:r>
            <a:r>
              <a:rPr sz="2150" b="0" spc="65" dirty="0">
                <a:latin typeface="Calibri"/>
                <a:cs typeface="Calibri"/>
              </a:rPr>
              <a:t> </a:t>
            </a:r>
            <a:r>
              <a:rPr sz="2150" b="0" spc="-10" dirty="0">
                <a:latin typeface="Calibri"/>
                <a:cs typeface="Calibri"/>
              </a:rPr>
              <a:t>overall </a:t>
            </a:r>
            <a:r>
              <a:rPr sz="2150" b="0" dirty="0">
                <a:latin typeface="Calibri"/>
                <a:cs typeface="Calibri"/>
              </a:rPr>
              <a:t>efficiency</a:t>
            </a:r>
            <a:r>
              <a:rPr sz="2150" b="0" spc="9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through</a:t>
            </a:r>
            <a:r>
              <a:rPr sz="2150" b="0" spc="9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a</a:t>
            </a:r>
            <a:r>
              <a:rPr sz="2150" b="0" spc="3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role-based,</a:t>
            </a:r>
            <a:r>
              <a:rPr sz="2150" b="0" spc="10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user-friendly</a:t>
            </a:r>
            <a:r>
              <a:rPr sz="2150" b="0" spc="10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web</a:t>
            </a:r>
            <a:r>
              <a:rPr sz="2150" b="0" spc="95" dirty="0">
                <a:latin typeface="Calibri"/>
                <a:cs typeface="Calibri"/>
              </a:rPr>
              <a:t> </a:t>
            </a:r>
            <a:r>
              <a:rPr sz="2150" b="0" spc="-10" dirty="0">
                <a:latin typeface="Calibri"/>
                <a:cs typeface="Calibri"/>
              </a:rPr>
              <a:t>interface.</a:t>
            </a:r>
            <a:endParaRPr sz="2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dirty="0"/>
              <a:t>Future</a:t>
            </a:r>
            <a:r>
              <a:rPr sz="2150" spc="95" dirty="0"/>
              <a:t> </a:t>
            </a:r>
            <a:r>
              <a:rPr sz="2150" spc="-20" dirty="0"/>
              <a:t>Scope</a:t>
            </a:r>
            <a:endParaRPr sz="2150"/>
          </a:p>
          <a:p>
            <a:pPr marL="355600" marR="5080" indent="-343535">
              <a:lnSpc>
                <a:spcPct val="82000"/>
              </a:lnSpc>
              <a:spcBef>
                <a:spcPts val="51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b="0" dirty="0">
                <a:latin typeface="Calibri"/>
                <a:cs typeface="Calibri"/>
              </a:rPr>
              <a:t>In</a:t>
            </a:r>
            <a:r>
              <a:rPr sz="2150" b="0" spc="3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the</a:t>
            </a:r>
            <a:r>
              <a:rPr sz="2150" b="0" spc="2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future,</a:t>
            </a:r>
            <a:r>
              <a:rPr sz="2150" b="0" spc="4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the</a:t>
            </a:r>
            <a:r>
              <a:rPr sz="2150" b="0" spc="2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system</a:t>
            </a:r>
            <a:r>
              <a:rPr sz="2150" b="0" spc="4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can</a:t>
            </a:r>
            <a:r>
              <a:rPr sz="2150" b="0" spc="4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be</a:t>
            </a:r>
            <a:r>
              <a:rPr sz="2150" b="0" spc="10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enhanced</a:t>
            </a:r>
            <a:r>
              <a:rPr sz="2150" b="0" spc="4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with</a:t>
            </a:r>
            <a:r>
              <a:rPr sz="2150" b="0" spc="4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a</a:t>
            </a:r>
            <a:r>
              <a:rPr sz="2150" b="0" spc="-1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backend</a:t>
            </a:r>
            <a:r>
              <a:rPr sz="2150" b="0" spc="45" dirty="0">
                <a:latin typeface="Calibri"/>
                <a:cs typeface="Calibri"/>
              </a:rPr>
              <a:t> </a:t>
            </a:r>
            <a:r>
              <a:rPr sz="2150" b="0" spc="-10" dirty="0">
                <a:latin typeface="Calibri"/>
                <a:cs typeface="Calibri"/>
              </a:rPr>
              <a:t>database </a:t>
            </a:r>
            <a:r>
              <a:rPr sz="2150" b="0" dirty="0">
                <a:latin typeface="Calibri"/>
                <a:cs typeface="Calibri"/>
              </a:rPr>
              <a:t>for</a:t>
            </a:r>
            <a:r>
              <a:rPr sz="2150" b="0" spc="8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persistent</a:t>
            </a:r>
            <a:r>
              <a:rPr sz="2150" b="0" spc="2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multi-user</a:t>
            </a:r>
            <a:r>
              <a:rPr sz="2150" b="0" spc="1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data</a:t>
            </a:r>
            <a:r>
              <a:rPr sz="2150" b="0" spc="10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storage,</a:t>
            </a:r>
            <a:r>
              <a:rPr sz="2150" b="0" spc="7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SMS</a:t>
            </a:r>
            <a:r>
              <a:rPr sz="2150" b="0" spc="7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or</a:t>
            </a:r>
            <a:r>
              <a:rPr sz="2150" b="0" spc="8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email</a:t>
            </a:r>
            <a:r>
              <a:rPr sz="2150" b="0" spc="114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notifications</a:t>
            </a:r>
            <a:r>
              <a:rPr sz="2150" b="0" spc="60" dirty="0">
                <a:latin typeface="Calibri"/>
                <a:cs typeface="Calibri"/>
              </a:rPr>
              <a:t> </a:t>
            </a:r>
            <a:r>
              <a:rPr sz="2150" b="0" spc="-25" dirty="0">
                <a:latin typeface="Calibri"/>
                <a:cs typeface="Calibri"/>
              </a:rPr>
              <a:t>for </a:t>
            </a:r>
            <a:r>
              <a:rPr sz="2150" b="0" dirty="0">
                <a:latin typeface="Calibri"/>
                <a:cs typeface="Calibri"/>
              </a:rPr>
              <a:t>expiry</a:t>
            </a:r>
            <a:r>
              <a:rPr sz="2150" b="0" spc="5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and</a:t>
            </a:r>
            <a:r>
              <a:rPr sz="2150" b="0" spc="6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reorder</a:t>
            </a:r>
            <a:r>
              <a:rPr sz="2150" b="0" spc="6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alerts,</a:t>
            </a:r>
            <a:r>
              <a:rPr sz="2150" b="0" spc="6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barcode</a:t>
            </a:r>
            <a:r>
              <a:rPr sz="2150" b="0" spc="4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scanner</a:t>
            </a:r>
            <a:r>
              <a:rPr sz="2150" b="0" spc="6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hardware</a:t>
            </a:r>
            <a:r>
              <a:rPr sz="2150" b="0" spc="40" dirty="0">
                <a:latin typeface="Calibri"/>
                <a:cs typeface="Calibri"/>
              </a:rPr>
              <a:t> </a:t>
            </a:r>
            <a:r>
              <a:rPr sz="2150" b="0" spc="-10" dirty="0">
                <a:latin typeface="Calibri"/>
                <a:cs typeface="Calibri"/>
              </a:rPr>
              <a:t>integration,</a:t>
            </a:r>
            <a:r>
              <a:rPr sz="2150" b="0" spc="53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and</a:t>
            </a:r>
            <a:r>
              <a:rPr sz="2150" b="0" spc="9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mobile</a:t>
            </a:r>
            <a:r>
              <a:rPr sz="2150" b="0" spc="8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application</a:t>
            </a:r>
            <a:r>
              <a:rPr sz="2150" b="0" spc="10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support.</a:t>
            </a:r>
            <a:r>
              <a:rPr sz="2150" b="0" spc="9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AI-based</a:t>
            </a:r>
            <a:r>
              <a:rPr sz="2150" b="0" spc="11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demand</a:t>
            </a:r>
            <a:r>
              <a:rPr sz="2150" b="0" spc="11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forecasting</a:t>
            </a:r>
            <a:r>
              <a:rPr sz="2150" b="0" spc="75" dirty="0">
                <a:latin typeface="Calibri"/>
                <a:cs typeface="Calibri"/>
              </a:rPr>
              <a:t> </a:t>
            </a:r>
            <a:r>
              <a:rPr sz="2150" b="0" spc="-25" dirty="0">
                <a:latin typeface="Calibri"/>
                <a:cs typeface="Calibri"/>
              </a:rPr>
              <a:t>can</a:t>
            </a:r>
            <a:r>
              <a:rPr sz="2150" b="0" spc="53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be</a:t>
            </a:r>
            <a:r>
              <a:rPr sz="2150" b="0" spc="9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incorporated</a:t>
            </a:r>
            <a:r>
              <a:rPr sz="2150" b="0" spc="3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to</a:t>
            </a:r>
            <a:r>
              <a:rPr sz="2150" b="0" spc="3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predict</a:t>
            </a:r>
            <a:r>
              <a:rPr sz="2150" b="0" spc="-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stock</a:t>
            </a:r>
            <a:r>
              <a:rPr sz="2150" b="0" spc="4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requirements,</a:t>
            </a:r>
            <a:r>
              <a:rPr sz="2150" b="0" spc="4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and</a:t>
            </a:r>
            <a:r>
              <a:rPr sz="2150" b="0" spc="4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integration</a:t>
            </a:r>
            <a:r>
              <a:rPr sz="2150" b="0" spc="35" dirty="0">
                <a:latin typeface="Calibri"/>
                <a:cs typeface="Calibri"/>
              </a:rPr>
              <a:t> </a:t>
            </a:r>
            <a:r>
              <a:rPr sz="2150" b="0" spc="-20" dirty="0">
                <a:latin typeface="Calibri"/>
                <a:cs typeface="Calibri"/>
              </a:rPr>
              <a:t>with </a:t>
            </a:r>
            <a:r>
              <a:rPr sz="2150" b="0" dirty="0">
                <a:latin typeface="Calibri"/>
                <a:cs typeface="Calibri"/>
              </a:rPr>
              <a:t>billing</a:t>
            </a:r>
            <a:r>
              <a:rPr sz="2150" b="0" spc="7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and</a:t>
            </a:r>
            <a:r>
              <a:rPr sz="2150" b="0" spc="4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patient</a:t>
            </a:r>
            <a:r>
              <a:rPr sz="2150" b="0" spc="80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management</a:t>
            </a:r>
            <a:r>
              <a:rPr sz="2150" b="0" spc="7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systems</a:t>
            </a:r>
            <a:r>
              <a:rPr sz="2150" b="0" spc="3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can</a:t>
            </a:r>
            <a:r>
              <a:rPr sz="2150" b="0" spc="4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make</a:t>
            </a:r>
            <a:r>
              <a:rPr sz="2150" b="0" spc="25" dirty="0">
                <a:latin typeface="Calibri"/>
                <a:cs typeface="Calibri"/>
              </a:rPr>
              <a:t> </a:t>
            </a:r>
            <a:r>
              <a:rPr sz="2150" b="0" dirty="0">
                <a:latin typeface="Calibri"/>
                <a:cs typeface="Calibri"/>
              </a:rPr>
              <a:t>it a</a:t>
            </a:r>
            <a:r>
              <a:rPr sz="2150" b="0" spc="70" dirty="0">
                <a:latin typeface="Calibri"/>
                <a:cs typeface="Calibri"/>
              </a:rPr>
              <a:t> </a:t>
            </a:r>
            <a:r>
              <a:rPr sz="2150" b="0" spc="-10" dirty="0">
                <a:latin typeface="Calibri"/>
                <a:cs typeface="Calibri"/>
              </a:rPr>
              <a:t>complete </a:t>
            </a:r>
            <a:r>
              <a:rPr sz="2150" b="0" dirty="0">
                <a:latin typeface="Calibri"/>
                <a:cs typeface="Calibri"/>
              </a:rPr>
              <a:t>pharmacy</a:t>
            </a:r>
            <a:r>
              <a:rPr sz="2150" b="0" spc="150" dirty="0">
                <a:latin typeface="Calibri"/>
                <a:cs typeface="Calibri"/>
              </a:rPr>
              <a:t> </a:t>
            </a:r>
            <a:r>
              <a:rPr sz="2150" b="0" spc="-10" dirty="0">
                <a:latin typeface="Calibri"/>
                <a:cs typeface="Calibri"/>
              </a:rPr>
              <a:t>solution.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668" y="199605"/>
            <a:ext cx="1229663" cy="44551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FCECAB-5472-F816-C9FE-B9D321EEE346}"/>
              </a:ext>
            </a:extLst>
          </p:cNvPr>
          <p:cNvSpPr txBox="1"/>
          <p:nvPr/>
        </p:nvSpPr>
        <p:spPr>
          <a:xfrm>
            <a:off x="2667000" y="381000"/>
            <a:ext cx="358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 –Mapping of the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B15F2-757D-C94D-8DAD-8AF472FBC86C}"/>
              </a:ext>
            </a:extLst>
          </p:cNvPr>
          <p:cNvSpPr txBox="1"/>
          <p:nvPr/>
        </p:nvSpPr>
        <p:spPr>
          <a:xfrm>
            <a:off x="533400" y="1752600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Component-driven architecture Unidirectional data flow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state updates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Reusable components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Declarative UI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FB7CAE-4C37-EAA8-4E15-84AA90FC54F3}"/>
              </a:ext>
            </a:extLst>
          </p:cNvPr>
          <p:cNvSpPr txBox="1"/>
          <p:nvPr/>
        </p:nvSpPr>
        <p:spPr>
          <a:xfrm>
            <a:off x="1295400" y="1219200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CO1:Foundations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6A1050-C2FB-F34D-DFCA-9F79FBC1F3C9}"/>
              </a:ext>
            </a:extLst>
          </p:cNvPr>
          <p:cNvSpPr txBox="1"/>
          <p:nvPr/>
        </p:nvSpPr>
        <p:spPr>
          <a:xfrm>
            <a:off x="4457700" y="1678044"/>
            <a:ext cx="457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like: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AdminDashboard.jsx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UserDashboard.jsx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StockList.jsx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ExpiryAlerts.jsx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SupplierOrders.jsx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39EE0B-3226-C0B6-1ED6-2EA1789320C6}"/>
              </a:ext>
            </a:extLst>
          </p:cNvPr>
          <p:cNvSpPr txBox="1"/>
          <p:nvPr/>
        </p:nvSpPr>
        <p:spPr>
          <a:xfrm>
            <a:off x="533400" y="3733800"/>
            <a:ext cx="457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CO2:JavaScript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ES6 Import/Export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Arrow Functions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Destructuring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 JavaScript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Modular Design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Closures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Local Storage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4E3617-CBBB-E9C0-8687-5A481B4E9868}"/>
              </a:ext>
            </a:extLst>
          </p:cNvPr>
          <p:cNvSpPr txBox="1"/>
          <p:nvPr/>
        </p:nvSpPr>
        <p:spPr>
          <a:xfrm>
            <a:off x="3810000" y="3699933"/>
            <a:ext cx="4572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CO3: React Component Model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Components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useEffect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useRef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Composition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Reusable Components</a:t>
            </a:r>
          </a:p>
        </p:txBody>
      </p:sp>
    </p:spTree>
    <p:extLst>
      <p:ext uri="{BB962C8B-B14F-4D97-AF65-F5344CB8AC3E}">
        <p14:creationId xmlns:p14="http://schemas.microsoft.com/office/powerpoint/2010/main" val="2563578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198C9C-D2C6-7237-F303-BCF0EBAA9706}"/>
              </a:ext>
            </a:extLst>
          </p:cNvPr>
          <p:cNvSpPr txBox="1"/>
          <p:nvPr/>
        </p:nvSpPr>
        <p:spPr>
          <a:xfrm>
            <a:off x="228600" y="1129099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CO4: Topics Used State Architecture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Context API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State Management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Lifting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useContext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 Operations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Storage Persistence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416484-6183-FBEE-064A-AF15556E566E}"/>
              </a:ext>
            </a:extLst>
          </p:cNvPr>
          <p:cNvSpPr txBox="1"/>
          <p:nvPr/>
        </p:nvSpPr>
        <p:spPr>
          <a:xfrm>
            <a:off x="4800600" y="990599"/>
            <a:ext cx="457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CO5: Routing, Forms, Accessibility &amp;            Performance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 Forms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Validation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API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 Storage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Forms 	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A295290-D453-FC37-6B57-3C23500758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656104"/>
              </p:ext>
            </p:extLst>
          </p:nvPr>
        </p:nvGraphicFramePr>
        <p:xfrm>
          <a:off x="3505200" y="3745979"/>
          <a:ext cx="8035925" cy="365760"/>
        </p:xfrm>
        <a:graphic>
          <a:graphicData uri="http://schemas.openxmlformats.org/drawingml/2006/table">
            <a:tbl>
              <a:tblPr/>
              <a:tblGrid>
                <a:gridCol w="8035925">
                  <a:extLst>
                    <a:ext uri="{9D8B030D-6E8A-4147-A177-3AD203B41FA5}">
                      <a16:colId xmlns:a16="http://schemas.microsoft.com/office/drawing/2014/main" val="17154052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91887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067FEB7-BB7B-C250-1BBC-438642EEC7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568339"/>
              </p:ext>
            </p:extLst>
          </p:nvPr>
        </p:nvGraphicFramePr>
        <p:xfrm>
          <a:off x="3429000" y="4240094"/>
          <a:ext cx="6816725" cy="914400"/>
        </p:xfrm>
        <a:graphic>
          <a:graphicData uri="http://schemas.openxmlformats.org/drawingml/2006/table">
            <a:tbl>
              <a:tblPr/>
              <a:tblGrid>
                <a:gridCol w="6816725">
                  <a:extLst>
                    <a:ext uri="{9D8B030D-6E8A-4147-A177-3AD203B41FA5}">
                      <a16:colId xmlns:a16="http://schemas.microsoft.com/office/drawing/2014/main" val="22663301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Vite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ESLint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Build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9719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2522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8660" rIns="0" bIns="0" rtlCol="0">
            <a:spAutoFit/>
          </a:bodyPr>
          <a:lstStyle/>
          <a:p>
            <a:pPr marL="186499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References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36575" y="1366519"/>
            <a:ext cx="8036559" cy="4376838"/>
          </a:xfrm>
          <a:prstGeom prst="rect">
            <a:avLst/>
          </a:prstGeom>
        </p:spPr>
        <p:txBody>
          <a:bodyPr vert="horz" wrap="square" lIns="0" tIns="19938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1.</a:t>
            </a:r>
            <a:r>
              <a:rPr spc="5" dirty="0"/>
              <a:t> </a:t>
            </a:r>
            <a:r>
              <a:rPr spc="-20" dirty="0"/>
              <a:t>Books</a:t>
            </a:r>
          </a:p>
          <a:p>
            <a:pPr marL="355600" indent="-342900">
              <a:lnSpc>
                <a:spcPts val="2670"/>
              </a:lnSpc>
              <a:spcBef>
                <a:spcPts val="6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IN" b="0" dirty="0"/>
              <a:t>[1] Satyanarayana, U. and Chakrapani, U., </a:t>
            </a:r>
            <a:r>
              <a:rPr lang="en-IN" b="0" i="1" dirty="0"/>
              <a:t>Pharmaceutical Management</a:t>
            </a:r>
            <a:r>
              <a:rPr lang="en-IN" b="0" dirty="0"/>
              <a:t>, 2nd ed., Elsevier India, 2018.</a:t>
            </a:r>
          </a:p>
          <a:p>
            <a:pPr marL="355600" indent="-342900">
              <a:lnSpc>
                <a:spcPts val="2670"/>
              </a:lnSpc>
              <a:spcBef>
                <a:spcPts val="6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IN" b="0" dirty="0"/>
              <a:t> [2] Duckett, J., </a:t>
            </a:r>
            <a:r>
              <a:rPr lang="en-IN" b="0" i="1" dirty="0"/>
              <a:t>JavaScript and </a:t>
            </a:r>
            <a:r>
              <a:rPr lang="en-IN" b="0" i="1" dirty="0" err="1"/>
              <a:t>JQuery</a:t>
            </a:r>
            <a:r>
              <a:rPr lang="en-IN" b="0" i="1" dirty="0"/>
              <a:t>: Interactive Front-End Web Development</a:t>
            </a:r>
            <a:r>
              <a:rPr lang="en-IN" b="0" dirty="0"/>
              <a:t>, 1st ed., Wiley, 2014.</a:t>
            </a:r>
            <a:endParaRPr lang="en-IN" b="0" spc="-10" dirty="0"/>
          </a:p>
          <a:p>
            <a:pPr marL="355600" indent="-342900">
              <a:lnSpc>
                <a:spcPct val="100000"/>
              </a:lnSpc>
              <a:spcBef>
                <a:spcPts val="6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IN" dirty="0"/>
              <a:t>2.</a:t>
            </a:r>
            <a:r>
              <a:rPr lang="en-IN" spc="40" dirty="0"/>
              <a:t> </a:t>
            </a:r>
            <a:r>
              <a:rPr lang="en-IN" dirty="0"/>
              <a:t>Journals</a:t>
            </a:r>
            <a:r>
              <a:rPr lang="en-IN" spc="100" dirty="0"/>
              <a:t> </a:t>
            </a:r>
            <a:r>
              <a:rPr lang="en-IN" dirty="0"/>
              <a:t>and</a:t>
            </a:r>
            <a:r>
              <a:rPr lang="en-IN" spc="50" dirty="0"/>
              <a:t> </a:t>
            </a:r>
            <a:r>
              <a:rPr lang="en-IN" dirty="0"/>
              <a:t>Research</a:t>
            </a:r>
            <a:r>
              <a:rPr lang="en-IN" spc="45" dirty="0"/>
              <a:t> </a:t>
            </a:r>
            <a:r>
              <a:rPr lang="en-IN" spc="-10" dirty="0"/>
              <a:t>Papers</a:t>
            </a:r>
          </a:p>
          <a:p>
            <a:pPr marL="355600" marR="226060" indent="-343535">
              <a:lnSpc>
                <a:spcPct val="81800"/>
              </a:lnSpc>
              <a:spcBef>
                <a:spcPts val="59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IN" b="0" dirty="0"/>
              <a:t>[4]</a:t>
            </a:r>
            <a:r>
              <a:rPr lang="en-IN" b="0" spc="55" dirty="0"/>
              <a:t> </a:t>
            </a:r>
            <a:r>
              <a:rPr lang="en-IN" b="0" dirty="0"/>
              <a:t>Agboola,</a:t>
            </a:r>
            <a:r>
              <a:rPr lang="en-IN" b="0" spc="55" dirty="0"/>
              <a:t> </a:t>
            </a:r>
            <a:r>
              <a:rPr lang="en-IN" b="0" dirty="0"/>
              <a:t>S.</a:t>
            </a:r>
            <a:r>
              <a:rPr lang="en-IN" b="0" spc="50" dirty="0"/>
              <a:t> </a:t>
            </a:r>
            <a:r>
              <a:rPr lang="en-IN" b="0" dirty="0"/>
              <a:t>et</a:t>
            </a:r>
            <a:r>
              <a:rPr lang="en-IN" b="0" spc="70" dirty="0"/>
              <a:t> </a:t>
            </a:r>
            <a:r>
              <a:rPr lang="en-IN" b="0" dirty="0"/>
              <a:t>al.,</a:t>
            </a:r>
            <a:r>
              <a:rPr lang="en-IN" b="0" spc="55" dirty="0"/>
              <a:t> </a:t>
            </a:r>
            <a:r>
              <a:rPr lang="en-IN" b="0" dirty="0"/>
              <a:t>"Pharmacy</a:t>
            </a:r>
            <a:r>
              <a:rPr lang="en-IN" b="0" spc="80" dirty="0"/>
              <a:t> </a:t>
            </a:r>
            <a:r>
              <a:rPr lang="en-IN" b="0" dirty="0"/>
              <a:t>Inventory</a:t>
            </a:r>
            <a:r>
              <a:rPr lang="en-IN" b="0" spc="80" dirty="0"/>
              <a:t> </a:t>
            </a:r>
            <a:r>
              <a:rPr lang="en-IN" b="0" spc="-10" dirty="0"/>
              <a:t>Management </a:t>
            </a:r>
            <a:r>
              <a:rPr lang="en-IN" b="0" dirty="0"/>
              <a:t>Using</a:t>
            </a:r>
            <a:r>
              <a:rPr lang="en-IN" b="0" spc="55" dirty="0"/>
              <a:t> </a:t>
            </a:r>
            <a:r>
              <a:rPr lang="en-IN" b="0" dirty="0"/>
              <a:t>Automated</a:t>
            </a:r>
            <a:r>
              <a:rPr lang="en-IN" b="0" spc="75" dirty="0"/>
              <a:t> </a:t>
            </a:r>
            <a:r>
              <a:rPr lang="en-IN" b="0" dirty="0"/>
              <a:t>Systems,"</a:t>
            </a:r>
            <a:r>
              <a:rPr lang="en-IN" b="0" spc="75" dirty="0"/>
              <a:t> </a:t>
            </a:r>
            <a:r>
              <a:rPr lang="en-IN" b="0" i="1" dirty="0"/>
              <a:t>Journal</a:t>
            </a:r>
            <a:r>
              <a:rPr lang="en-IN" b="0" i="1" spc="55" dirty="0"/>
              <a:t> </a:t>
            </a:r>
            <a:r>
              <a:rPr lang="en-IN" b="0" i="1" dirty="0"/>
              <a:t>of</a:t>
            </a:r>
            <a:r>
              <a:rPr lang="en-IN" b="0" i="1" spc="100" dirty="0"/>
              <a:t> </a:t>
            </a:r>
            <a:r>
              <a:rPr lang="en-IN" b="0" i="1" dirty="0"/>
              <a:t>Pharmacy</a:t>
            </a:r>
            <a:r>
              <a:rPr lang="en-IN" b="0" i="1" spc="114" dirty="0"/>
              <a:t> </a:t>
            </a:r>
            <a:r>
              <a:rPr lang="en-IN" b="0" i="1" spc="-10" dirty="0"/>
              <a:t>Practice</a:t>
            </a:r>
            <a:r>
              <a:rPr lang="en-IN" b="0" spc="-10" dirty="0"/>
              <a:t>, </a:t>
            </a:r>
            <a:r>
              <a:rPr lang="en-IN" b="0" dirty="0"/>
              <a:t>vol.</a:t>
            </a:r>
            <a:r>
              <a:rPr lang="en-IN" b="0" spc="45" dirty="0"/>
              <a:t> </a:t>
            </a:r>
            <a:r>
              <a:rPr lang="en-IN" b="0" dirty="0"/>
              <a:t>12,</a:t>
            </a:r>
            <a:r>
              <a:rPr lang="en-IN" b="0" spc="65" dirty="0"/>
              <a:t> </a:t>
            </a:r>
            <a:r>
              <a:rPr lang="en-IN" b="0" dirty="0"/>
              <a:t>no.</a:t>
            </a:r>
            <a:r>
              <a:rPr lang="en-IN" b="0" spc="55" dirty="0"/>
              <a:t> </a:t>
            </a:r>
            <a:r>
              <a:rPr lang="en-IN" b="0" dirty="0"/>
              <a:t>3,</a:t>
            </a:r>
            <a:r>
              <a:rPr lang="en-IN" b="0" spc="65" dirty="0"/>
              <a:t> </a:t>
            </a:r>
            <a:r>
              <a:rPr lang="en-IN" b="0" dirty="0"/>
              <a:t>pp.</a:t>
            </a:r>
            <a:r>
              <a:rPr lang="en-IN" b="0" spc="55" dirty="0"/>
              <a:t> </a:t>
            </a:r>
            <a:r>
              <a:rPr lang="en-IN" b="0" dirty="0"/>
              <a:t>45–52,</a:t>
            </a:r>
            <a:r>
              <a:rPr lang="en-IN" b="0" spc="65" dirty="0"/>
              <a:t> </a:t>
            </a:r>
            <a:r>
              <a:rPr lang="en-IN" b="0" spc="-10" dirty="0"/>
              <a:t>2020.</a:t>
            </a:r>
          </a:p>
          <a:p>
            <a:pPr marL="355600" marR="67310" indent="-343535">
              <a:lnSpc>
                <a:spcPts val="2400"/>
              </a:lnSpc>
              <a:spcBef>
                <a:spcPts val="595"/>
              </a:spcBef>
              <a:buFont typeface="Arial MT"/>
              <a:buChar char="•"/>
              <a:tabLst>
                <a:tab pos="355600" algn="l"/>
              </a:tabLst>
            </a:pPr>
            <a:r>
              <a:rPr b="0" dirty="0"/>
              <a:t>[5]</a:t>
            </a:r>
            <a:r>
              <a:rPr b="0" spc="35" dirty="0"/>
              <a:t> </a:t>
            </a:r>
            <a:r>
              <a:rPr b="0" spc="-20" dirty="0"/>
              <a:t>Kumar,</a:t>
            </a:r>
            <a:r>
              <a:rPr b="0" spc="35" dirty="0"/>
              <a:t> </a:t>
            </a:r>
            <a:r>
              <a:rPr b="0" spc="50" dirty="0"/>
              <a:t>R.</a:t>
            </a:r>
            <a:r>
              <a:rPr b="0" spc="-45" dirty="0"/>
              <a:t> </a:t>
            </a:r>
            <a:r>
              <a:rPr b="0" dirty="0"/>
              <a:t>and</a:t>
            </a:r>
            <a:r>
              <a:rPr b="0" spc="35" dirty="0"/>
              <a:t> </a:t>
            </a:r>
            <a:r>
              <a:rPr b="0" dirty="0"/>
              <a:t>Singh,</a:t>
            </a:r>
            <a:r>
              <a:rPr b="0" spc="-40" dirty="0"/>
              <a:t> </a:t>
            </a:r>
            <a:r>
              <a:rPr b="0" spc="-45" dirty="0"/>
              <a:t>P.,</a:t>
            </a:r>
            <a:r>
              <a:rPr b="0" spc="40" dirty="0"/>
              <a:t> </a:t>
            </a:r>
            <a:r>
              <a:rPr b="0" dirty="0"/>
              <a:t>"Web-Based</a:t>
            </a:r>
            <a:r>
              <a:rPr b="0" spc="30" dirty="0"/>
              <a:t> </a:t>
            </a:r>
            <a:r>
              <a:rPr b="0" spc="-10" dirty="0"/>
              <a:t>Inventory </a:t>
            </a:r>
            <a:r>
              <a:rPr b="0" dirty="0"/>
              <a:t>Management</a:t>
            </a:r>
            <a:r>
              <a:rPr b="0" spc="5" dirty="0"/>
              <a:t> </a:t>
            </a:r>
            <a:r>
              <a:rPr b="0" dirty="0"/>
              <a:t>System</a:t>
            </a:r>
            <a:r>
              <a:rPr b="0" spc="60" dirty="0"/>
              <a:t> </a:t>
            </a:r>
            <a:r>
              <a:rPr b="0" dirty="0"/>
              <a:t>for</a:t>
            </a:r>
            <a:r>
              <a:rPr b="0" spc="45" dirty="0"/>
              <a:t> </a:t>
            </a:r>
            <a:r>
              <a:rPr b="0" dirty="0"/>
              <a:t>Healthcare,"</a:t>
            </a:r>
            <a:r>
              <a:rPr b="0" spc="165" dirty="0"/>
              <a:t> </a:t>
            </a:r>
            <a:r>
              <a:rPr b="0" i="1" dirty="0"/>
              <a:t>International</a:t>
            </a:r>
            <a:r>
              <a:rPr b="0" i="1" spc="50" dirty="0"/>
              <a:t> </a:t>
            </a:r>
            <a:r>
              <a:rPr b="0" i="1" spc="-10" dirty="0"/>
              <a:t>Journal </a:t>
            </a:r>
            <a:r>
              <a:rPr b="0" i="1" dirty="0"/>
              <a:t>of</a:t>
            </a:r>
            <a:r>
              <a:rPr b="0" i="1" spc="100" dirty="0"/>
              <a:t> </a:t>
            </a:r>
            <a:r>
              <a:rPr b="0" i="1" dirty="0"/>
              <a:t>Computer</a:t>
            </a:r>
            <a:r>
              <a:rPr b="0" i="1" spc="75" dirty="0"/>
              <a:t> </a:t>
            </a:r>
            <a:r>
              <a:rPr b="0" i="1" dirty="0"/>
              <a:t>Applications</a:t>
            </a:r>
            <a:r>
              <a:rPr b="0" dirty="0"/>
              <a:t>,</a:t>
            </a:r>
            <a:r>
              <a:rPr b="0" spc="95" dirty="0"/>
              <a:t> </a:t>
            </a:r>
            <a:r>
              <a:rPr b="0" dirty="0"/>
              <a:t>vol.</a:t>
            </a:r>
            <a:r>
              <a:rPr b="0" spc="85" dirty="0"/>
              <a:t> </a:t>
            </a:r>
            <a:r>
              <a:rPr b="0" dirty="0"/>
              <a:t>175,</a:t>
            </a:r>
            <a:r>
              <a:rPr b="0" spc="95" dirty="0"/>
              <a:t> </a:t>
            </a:r>
            <a:r>
              <a:rPr b="0" dirty="0"/>
              <a:t>no.</a:t>
            </a:r>
            <a:r>
              <a:rPr b="0" spc="80" dirty="0"/>
              <a:t> </a:t>
            </a:r>
            <a:r>
              <a:rPr b="0" dirty="0"/>
              <a:t>2,</a:t>
            </a:r>
            <a:r>
              <a:rPr b="0" spc="10" dirty="0"/>
              <a:t> </a:t>
            </a:r>
            <a:r>
              <a:rPr b="0" dirty="0"/>
              <a:t>pp.</a:t>
            </a:r>
            <a:r>
              <a:rPr b="0" spc="85" dirty="0"/>
              <a:t> </a:t>
            </a:r>
            <a:r>
              <a:rPr b="0" dirty="0"/>
              <a:t>18–24,</a:t>
            </a:r>
            <a:r>
              <a:rPr b="0" spc="85" dirty="0"/>
              <a:t> </a:t>
            </a:r>
            <a:r>
              <a:rPr b="0" spc="-10" dirty="0"/>
              <a:t>2021.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852" y="199605"/>
            <a:ext cx="1374329" cy="44551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94545" y="2987230"/>
            <a:ext cx="2930525" cy="618490"/>
            <a:chOff x="3094545" y="2987230"/>
            <a:chExt cx="2930525" cy="6184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4659" y="3009763"/>
              <a:ext cx="2909981" cy="59545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4545" y="2987230"/>
              <a:ext cx="2912364" cy="59715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</TotalTime>
  <Words>1234</Words>
  <Application>Microsoft Office PowerPoint</Application>
  <PresentationFormat>On-screen Show (4:3)</PresentationFormat>
  <Paragraphs>110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 MT</vt:lpstr>
      <vt:lpstr>Calibri</vt:lpstr>
      <vt:lpstr>Times New Roman</vt:lpstr>
      <vt:lpstr>Office Theme</vt:lpstr>
      <vt:lpstr>Project Review Meeting</vt:lpstr>
      <vt:lpstr>Outline of the Presentation</vt:lpstr>
      <vt:lpstr>Abstract</vt:lpstr>
      <vt:lpstr>Introduction</vt:lpstr>
      <vt:lpstr>Problem Statement</vt:lpstr>
      <vt:lpstr>Project Flow Diagram</vt:lpstr>
      <vt:lpstr>Objectives with Justification</vt:lpstr>
      <vt:lpstr>Modules [Frontend web pages]</vt:lpstr>
      <vt:lpstr>Expected Outcomes of the Proposed Work</vt:lpstr>
      <vt:lpstr>Conclusion and Future Scope</vt:lpstr>
      <vt:lpstr>PowerPoint Presentation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Arnav Chitikena</cp:lastModifiedBy>
  <cp:revision>5</cp:revision>
  <dcterms:created xsi:type="dcterms:W3CDTF">2026-06-03T15:22:04Z</dcterms:created>
  <dcterms:modified xsi:type="dcterms:W3CDTF">2026-06-19T04:12:19Z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2026-06-03T00:00:00Z</vt:filetime>
  </property>
  <property fmtid="{D5CDD505-2E9C-101B-9397-08002B2CF9AE}" pid="4" name="LastSaved">
    <vt:filetime>2026-06-03T00:00:00Z</vt:filetime>
  </property>
</Properties>
</file>